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audit, the strategy, and the working pipeline all exist before day one. This deck walks through what was found, how Wolff wins, and what the first 90 days deliver.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number is reproducible: npm run seo:report regenerates the failure list from the crawl. The /blog bug is the proof no one has been watching.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this is why a beautiful site produces nothing from search. The fix is structural, not cosmetic.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layers, in order: entity, evidence, answer, retrieval, qualification. Each layer has a concrete artifact already in the repo.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differentiator versus a typical SEO applicant: the infrastructure exists, is tested, and produced a real failure report before the engagement started.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seven are the same-day list from the audit. They only wait on Duda access and a facts sign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phase ends with something visible: pushed fixes, live pages, then measurable movement and the next roadmap.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Monthly report structure: what changed, what was learned, which intent improved, which enquiries were qualified, what changes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Duda credentials conversation with Bullsai is the day-one item. If access is refused, git remains the record and publishing stays manual while keeping full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asymmetry: excellent business, invisible search presence, working system ready to close the gap. Ask for the day-one Duda conversation.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1.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A2521"/>
        </a:solidFill>
      </p:bgPr>
    </p:bg>
    <p:spTree>
      <p:nvGrpSpPr>
        <p:cNvPr id="1" name=""/>
        <p:cNvGrpSpPr/>
        <p:nvPr/>
      </p:nvGrpSpPr>
      <p:grpSpPr>
        <a:xfrm>
          <a:off x="0" y="0"/>
          <a:ext cx="0" cy="0"/>
          <a:chOff x="0" y="0"/>
          <a:chExt cx="0" cy="0"/>
        </a:xfrm>
      </p:grpSpPr>
      <p:sp>
        <p:nvSpPr>
          <p:cNvPr id="2" name="Shape 0"/>
          <p:cNvSpPr/>
          <p:nvPr/>
        </p:nvSpPr>
        <p:spPr>
          <a:xfrm>
            <a:off x="8321040" y="-1463040"/>
            <a:ext cx="5852160" cy="5852160"/>
          </a:xfrm>
          <a:prstGeom prst="ellipse">
            <a:avLst/>
          </a:prstGeom>
          <a:ln w="15875">
            <a:solidFill>
              <a:srgbClr val="A97E48">
                <a:alpha val="65000"/>
              </a:srgbClr>
            </a:solidFill>
            <a:prstDash val="solid"/>
          </a:ln>
        </p:spPr>
      </p:sp>
      <p:sp>
        <p:nvSpPr>
          <p:cNvPr id="3" name="Shape 1"/>
          <p:cNvSpPr/>
          <p:nvPr/>
        </p:nvSpPr>
        <p:spPr>
          <a:xfrm>
            <a:off x="9326880" y="-457200"/>
            <a:ext cx="3840480" cy="3840480"/>
          </a:xfrm>
          <a:prstGeom prst="ellipse">
            <a:avLst/>
          </a:prstGeom>
          <a:ln w="9525">
            <a:solidFill>
              <a:srgbClr val="A97E48">
                <a:alpha val="40000"/>
              </a:srgbClr>
            </a:solidFill>
            <a:prstDash val="solid"/>
          </a:ln>
        </p:spPr>
      </p:sp>
      <p:sp>
        <p:nvSpPr>
          <p:cNvPr id="4" name="Text 2"/>
          <p:cNvSpPr/>
          <p:nvPr/>
        </p:nvSpPr>
        <p:spPr>
          <a:xfrm>
            <a:off x="822960" y="1417320"/>
            <a:ext cx="9601200" cy="365760"/>
          </a:xfrm>
          <a:prstGeom prst="rect">
            <a:avLst/>
          </a:prstGeom>
          <a:noFill/>
          <a:ln/>
        </p:spPr>
        <p:txBody>
          <a:bodyPr wrap="square" lIns="0" tIns="0" rIns="0" bIns="0" rtlCol="0" anchor="ctr"/>
          <a:lstStyle/>
          <a:p>
            <a:pPr indent="0" marL="0">
              <a:buNone/>
            </a:pPr>
            <a:r>
              <a:rPr lang="en-US" sz="1300" spc="300" kern="0" dirty="0">
                <a:solidFill>
                  <a:srgbClr val="A97E48"/>
                </a:solidFill>
                <a:latin typeface="Calibri" pitchFamily="34" charset="0"/>
                <a:ea typeface="Calibri" pitchFamily="34" charset="-122"/>
                <a:cs typeface="Calibri" pitchFamily="34" charset="-120"/>
              </a:rPr>
              <a:t>SEO SPECIALIST APPLICATION  ·  WOLFF CONSTRUCTION, ROCKLIN CA</a:t>
            </a:r>
            <a:endParaRPr lang="en-US" sz="1300" dirty="0"/>
          </a:p>
        </p:txBody>
      </p:sp>
      <p:sp>
        <p:nvSpPr>
          <p:cNvPr id="5" name="Text 3"/>
          <p:cNvSpPr/>
          <p:nvPr/>
        </p:nvSpPr>
        <p:spPr>
          <a:xfrm>
            <a:off x="822960" y="1828800"/>
            <a:ext cx="9692640" cy="2011680"/>
          </a:xfrm>
          <a:prstGeom prst="rect">
            <a:avLst/>
          </a:prstGeom>
          <a:noFill/>
          <a:ln/>
        </p:spPr>
        <p:txBody>
          <a:bodyPr wrap="square" lIns="0" tIns="0" rIns="0" bIns="0" rtlCol="0" anchor="ctr"/>
          <a:lstStyle/>
          <a:p>
            <a:pPr indent="0" marL="0">
              <a:lnSpc>
                <a:spcPts val="5200"/>
              </a:lnSpc>
              <a:buNone/>
            </a:pPr>
            <a:r>
              <a:rPr lang="en-US" sz="4600" b="1" dirty="0">
                <a:solidFill>
                  <a:srgbClr val="FFFFFF"/>
                </a:solidFill>
                <a:latin typeface="Cambria" pitchFamily="34" charset="0"/>
                <a:ea typeface="Cambria" pitchFamily="34" charset="-122"/>
                <a:cs typeface="Cambria" pitchFamily="34" charset="-120"/>
              </a:rPr>
              <a:t>How Wolff Construction</a:t>
            </a:r>
            <a:endParaRPr lang="en-US" sz="4600" dirty="0"/>
          </a:p>
          <a:p>
            <a:pPr indent="0" marL="0">
              <a:lnSpc>
                <a:spcPts val="5200"/>
              </a:lnSpc>
              <a:buNone/>
            </a:pPr>
            <a:r>
              <a:rPr lang="en-US" sz="4600" b="1" dirty="0">
                <a:solidFill>
                  <a:srgbClr val="FFFFFF"/>
                </a:solidFill>
                <a:latin typeface="Cambria" pitchFamily="34" charset="0"/>
                <a:ea typeface="Cambria" pitchFamily="34" charset="-122"/>
                <a:cs typeface="Cambria" pitchFamily="34" charset="-120"/>
              </a:rPr>
              <a:t>wins in search</a:t>
            </a:r>
            <a:endParaRPr lang="en-US" sz="4600" dirty="0"/>
          </a:p>
        </p:txBody>
      </p:sp>
      <p:sp>
        <p:nvSpPr>
          <p:cNvPr id="6" name="Text 4"/>
          <p:cNvSpPr/>
          <p:nvPr/>
        </p:nvSpPr>
        <p:spPr>
          <a:xfrm>
            <a:off x="822960" y="3977640"/>
            <a:ext cx="7680960" cy="822960"/>
          </a:xfrm>
          <a:prstGeom prst="rect">
            <a:avLst/>
          </a:prstGeom>
          <a:noFill/>
          <a:ln/>
        </p:spPr>
        <p:txBody>
          <a:bodyPr wrap="square" lIns="0" tIns="0" rIns="0" bIns="0" rtlCol="0" anchor="ctr"/>
          <a:lstStyle/>
          <a:p>
            <a:pPr indent="0" marL="0">
              <a:lnSpc>
                <a:spcPts val="2200"/>
              </a:lnSpc>
              <a:buNone/>
            </a:pPr>
            <a:r>
              <a:rPr lang="en-US" sz="1600" dirty="0">
                <a:solidFill>
                  <a:srgbClr val="D8D2C8"/>
                </a:solidFill>
                <a:latin typeface="Calibri" pitchFamily="34" charset="0"/>
                <a:ea typeface="Calibri" pitchFamily="34" charset="-122"/>
                <a:cs typeface="Calibri" pitchFamily="34" charset="-120"/>
              </a:rPr>
              <a:t>SEO, AEO and GEO for the Placer County luxury remodel market, with the delivery system already built and a 90 day plan to run it.</a:t>
            </a:r>
            <a:endParaRPr lang="en-US" sz="1600" dirty="0"/>
          </a:p>
        </p:txBody>
      </p:sp>
      <p:sp>
        <p:nvSpPr>
          <p:cNvPr id="7" name="Text 5"/>
          <p:cNvSpPr/>
          <p:nvPr/>
        </p:nvSpPr>
        <p:spPr>
          <a:xfrm>
            <a:off x="822960" y="5989320"/>
            <a:ext cx="9601200" cy="365760"/>
          </a:xfrm>
          <a:prstGeom prst="rect">
            <a:avLst/>
          </a:prstGeom>
          <a:noFill/>
          <a:ln/>
        </p:spPr>
        <p:txBody>
          <a:bodyPr wrap="square" lIns="0" tIns="0" rIns="0" bIns="0" rtlCol="0" anchor="ctr"/>
          <a:lstStyle/>
          <a:p>
            <a:pPr indent="0" marL="0">
              <a:buNone/>
            </a:pPr>
            <a:r>
              <a:rPr lang="en-US" sz="1200" dirty="0">
                <a:solidFill>
                  <a:srgbClr val="6E675E"/>
                </a:solidFill>
                <a:latin typeface="Calibri" pitchFamily="34" charset="0"/>
                <a:ea typeface="Calibri" pitchFamily="34" charset="-122"/>
                <a:cs typeface="Calibri" pitchFamily="34" charset="-120"/>
              </a:rPr>
              <a:t>kawani@digiwaxx.com     ·     github.com/branderboy/wolff     ·     August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02920"/>
            <a:ext cx="10515600" cy="640080"/>
          </a:xfrm>
          <a:prstGeom prst="rect">
            <a:avLst/>
          </a:prstGeom>
          <a:noFill/>
          <a:ln/>
        </p:spPr>
        <p:txBody>
          <a:bodyPr wrap="square" lIns="0" tIns="0" rIns="0" bIns="0" rtlCol="0" anchor="ctr"/>
          <a:lstStyle/>
          <a:p>
            <a:pPr indent="0" marL="0">
              <a:buNone/>
            </a:pPr>
            <a:r>
              <a:rPr lang="en-US" sz="3600" b="1" dirty="0">
                <a:solidFill>
                  <a:srgbClr val="26221E"/>
                </a:solidFill>
                <a:latin typeface="Cambria" pitchFamily="34" charset="0"/>
                <a:ea typeface="Cambria" pitchFamily="34" charset="-122"/>
                <a:cs typeface="Cambria" pitchFamily="34" charset="-120"/>
              </a:rPr>
              <a:t>The audit came before the application</a:t>
            </a:r>
            <a:endParaRPr lang="en-US" sz="3600" dirty="0"/>
          </a:p>
        </p:txBody>
      </p:sp>
      <p:sp>
        <p:nvSpPr>
          <p:cNvPr id="3" name="Text 1"/>
          <p:cNvSpPr/>
          <p:nvPr/>
        </p:nvSpPr>
        <p:spPr>
          <a:xfrm>
            <a:off x="822960" y="1234440"/>
            <a:ext cx="9875520" cy="457200"/>
          </a:xfrm>
          <a:prstGeom prst="rect">
            <a:avLst/>
          </a:prstGeom>
          <a:noFill/>
          <a:ln/>
        </p:spPr>
        <p:txBody>
          <a:bodyPr wrap="square" lIns="0" tIns="0" rIns="0" bIns="0" rtlCol="0" anchor="ctr"/>
          <a:lstStyle/>
          <a:p>
            <a:pPr indent="0" marL="0">
              <a:buNone/>
            </a:pPr>
            <a:r>
              <a:rPr lang="en-US" sz="1500" dirty="0">
                <a:solidFill>
                  <a:srgbClr val="6E675E"/>
                </a:solidFill>
                <a:latin typeface="Calibri" pitchFamily="34" charset="0"/>
                <a:ea typeface="Calibri" pitchFamily="34" charset="-122"/>
                <a:cs typeface="Calibri" pitchFamily="34" charset="-120"/>
              </a:rPr>
              <a:t>I crawled wolffconstruction.com, scored every page, and built a validation gate that reproduces these findings on demand.</a:t>
            </a:r>
            <a:endParaRPr lang="en-US" sz="1500" dirty="0"/>
          </a:p>
        </p:txBody>
      </p:sp>
      <p:sp>
        <p:nvSpPr>
          <p:cNvPr id="4" name="Shape 2"/>
          <p:cNvSpPr/>
          <p:nvPr/>
        </p:nvSpPr>
        <p:spPr>
          <a:xfrm>
            <a:off x="822960" y="1965960"/>
            <a:ext cx="2542032" cy="1965960"/>
          </a:xfrm>
          <a:prstGeom prst="roundRect">
            <a:avLst>
              <a:gd name="adj" fmla="val 3721"/>
            </a:avLst>
          </a:prstGeom>
          <a:solidFill>
            <a:srgbClr val="F3EDE3"/>
          </a:solidFill>
          <a:ln/>
        </p:spPr>
      </p:sp>
      <p:sp>
        <p:nvSpPr>
          <p:cNvPr id="5" name="Text 3"/>
          <p:cNvSpPr/>
          <p:nvPr/>
        </p:nvSpPr>
        <p:spPr>
          <a:xfrm>
            <a:off x="1051560" y="2148840"/>
            <a:ext cx="2084832" cy="914400"/>
          </a:xfrm>
          <a:prstGeom prst="rect">
            <a:avLst/>
          </a:prstGeom>
          <a:noFill/>
          <a:ln/>
        </p:spPr>
        <p:txBody>
          <a:bodyPr wrap="square" lIns="0" tIns="0" rIns="0" bIns="0" rtlCol="0" anchor="ctr"/>
          <a:lstStyle/>
          <a:p>
            <a:pPr indent="0" marL="0">
              <a:buNone/>
            </a:pPr>
            <a:r>
              <a:rPr lang="en-US" sz="6000" b="1" dirty="0">
                <a:solidFill>
                  <a:srgbClr val="8A6335"/>
                </a:solidFill>
                <a:latin typeface="Cambria" pitchFamily="34" charset="0"/>
                <a:ea typeface="Cambria" pitchFamily="34" charset="-122"/>
                <a:cs typeface="Cambria" pitchFamily="34" charset="-120"/>
              </a:rPr>
              <a:t>27</a:t>
            </a:r>
            <a:endParaRPr lang="en-US" sz="6000" dirty="0"/>
          </a:p>
        </p:txBody>
      </p:sp>
      <p:sp>
        <p:nvSpPr>
          <p:cNvPr id="6" name="Text 4"/>
          <p:cNvSpPr/>
          <p:nvPr/>
        </p:nvSpPr>
        <p:spPr>
          <a:xfrm>
            <a:off x="1051560" y="3154680"/>
            <a:ext cx="2084832" cy="685800"/>
          </a:xfrm>
          <a:prstGeom prst="rect">
            <a:avLst/>
          </a:prstGeom>
          <a:noFill/>
          <a:ln/>
        </p:spPr>
        <p:txBody>
          <a:bodyPr wrap="square" lIns="0" tIns="0" rIns="0" bIns="0" rtlCol="0" anchor="ctr"/>
          <a:lstStyle/>
          <a:p>
            <a:pPr indent="0" marL="0">
              <a:lnSpc>
                <a:spcPts val="1700"/>
              </a:lnSpc>
              <a:buNone/>
            </a:pPr>
            <a:r>
              <a:rPr lang="en-US" sz="1300" dirty="0">
                <a:solidFill>
                  <a:srgbClr val="26221E"/>
                </a:solidFill>
                <a:latin typeface="Calibri" pitchFamily="34" charset="0"/>
                <a:ea typeface="Calibri" pitchFamily="34" charset="-122"/>
                <a:cs typeface="Calibri" pitchFamily="34" charset="-120"/>
              </a:rPr>
              <a:t>pages crawled and scored</a:t>
            </a:r>
            <a:endParaRPr lang="en-US" sz="1300" dirty="0"/>
          </a:p>
        </p:txBody>
      </p:sp>
      <p:sp>
        <p:nvSpPr>
          <p:cNvPr id="7" name="Shape 5"/>
          <p:cNvSpPr/>
          <p:nvPr/>
        </p:nvSpPr>
        <p:spPr>
          <a:xfrm>
            <a:off x="3657600" y="1965960"/>
            <a:ext cx="2542032" cy="1965960"/>
          </a:xfrm>
          <a:prstGeom prst="roundRect">
            <a:avLst>
              <a:gd name="adj" fmla="val 3721"/>
            </a:avLst>
          </a:prstGeom>
          <a:solidFill>
            <a:srgbClr val="F3EDE3"/>
          </a:solidFill>
          <a:ln/>
        </p:spPr>
      </p:sp>
      <p:sp>
        <p:nvSpPr>
          <p:cNvPr id="8" name="Text 6"/>
          <p:cNvSpPr/>
          <p:nvPr/>
        </p:nvSpPr>
        <p:spPr>
          <a:xfrm>
            <a:off x="3886200" y="2148840"/>
            <a:ext cx="2084832" cy="914400"/>
          </a:xfrm>
          <a:prstGeom prst="rect">
            <a:avLst/>
          </a:prstGeom>
          <a:noFill/>
          <a:ln/>
        </p:spPr>
        <p:txBody>
          <a:bodyPr wrap="square" lIns="0" tIns="0" rIns="0" bIns="0" rtlCol="0" anchor="ctr"/>
          <a:lstStyle/>
          <a:p>
            <a:pPr indent="0" marL="0">
              <a:buNone/>
            </a:pPr>
            <a:r>
              <a:rPr lang="en-US" sz="6000" b="1" dirty="0">
                <a:solidFill>
                  <a:srgbClr val="A93B26"/>
                </a:solidFill>
                <a:latin typeface="Cambria" pitchFamily="34" charset="0"/>
                <a:ea typeface="Cambria" pitchFamily="34" charset="-122"/>
                <a:cs typeface="Cambria" pitchFamily="34" charset="-120"/>
              </a:rPr>
              <a:t>35</a:t>
            </a:r>
            <a:endParaRPr lang="en-US" sz="6000" dirty="0"/>
          </a:p>
        </p:txBody>
      </p:sp>
      <p:sp>
        <p:nvSpPr>
          <p:cNvPr id="9" name="Text 7"/>
          <p:cNvSpPr/>
          <p:nvPr/>
        </p:nvSpPr>
        <p:spPr>
          <a:xfrm>
            <a:off x="3886200" y="3154680"/>
            <a:ext cx="2084832" cy="685800"/>
          </a:xfrm>
          <a:prstGeom prst="rect">
            <a:avLst/>
          </a:prstGeom>
          <a:noFill/>
          <a:ln/>
        </p:spPr>
        <p:txBody>
          <a:bodyPr wrap="square" lIns="0" tIns="0" rIns="0" bIns="0" rtlCol="0" anchor="ctr"/>
          <a:lstStyle/>
          <a:p>
            <a:pPr indent="0" marL="0">
              <a:lnSpc>
                <a:spcPts val="1700"/>
              </a:lnSpc>
              <a:buNone/>
            </a:pPr>
            <a:r>
              <a:rPr lang="en-US" sz="1300" dirty="0">
                <a:solidFill>
                  <a:srgbClr val="26221E"/>
                </a:solidFill>
                <a:latin typeface="Calibri" pitchFamily="34" charset="0"/>
                <a:ea typeface="Calibri" pitchFamily="34" charset="-122"/>
                <a:cs typeface="Calibri" pitchFamily="34" charset="-120"/>
              </a:rPr>
              <a:t>failures live and indexed today</a:t>
            </a:r>
            <a:endParaRPr lang="en-US" sz="1300" dirty="0"/>
          </a:p>
        </p:txBody>
      </p:sp>
      <p:sp>
        <p:nvSpPr>
          <p:cNvPr id="10" name="Shape 8"/>
          <p:cNvSpPr/>
          <p:nvPr/>
        </p:nvSpPr>
        <p:spPr>
          <a:xfrm>
            <a:off x="6492240" y="1965960"/>
            <a:ext cx="2542032" cy="1965960"/>
          </a:xfrm>
          <a:prstGeom prst="roundRect">
            <a:avLst>
              <a:gd name="adj" fmla="val 3721"/>
            </a:avLst>
          </a:prstGeom>
          <a:solidFill>
            <a:srgbClr val="F3EDE3"/>
          </a:solidFill>
          <a:ln/>
        </p:spPr>
      </p:sp>
      <p:sp>
        <p:nvSpPr>
          <p:cNvPr id="11" name="Text 9"/>
          <p:cNvSpPr/>
          <p:nvPr/>
        </p:nvSpPr>
        <p:spPr>
          <a:xfrm>
            <a:off x="6720840" y="2148840"/>
            <a:ext cx="2084832" cy="914400"/>
          </a:xfrm>
          <a:prstGeom prst="rect">
            <a:avLst/>
          </a:prstGeom>
          <a:noFill/>
          <a:ln/>
        </p:spPr>
        <p:txBody>
          <a:bodyPr wrap="square" lIns="0" tIns="0" rIns="0" bIns="0" rtlCol="0" anchor="ctr"/>
          <a:lstStyle/>
          <a:p>
            <a:pPr indent="0" marL="0">
              <a:buNone/>
            </a:pPr>
            <a:r>
              <a:rPr lang="en-US" sz="6000" b="1" dirty="0">
                <a:solidFill>
                  <a:srgbClr val="8A6335"/>
                </a:solidFill>
                <a:latin typeface="Cambria" pitchFamily="34" charset="0"/>
                <a:ea typeface="Cambria" pitchFamily="34" charset="-122"/>
                <a:cs typeface="Cambria" pitchFamily="34" charset="-120"/>
              </a:rPr>
              <a:t>10</a:t>
            </a:r>
            <a:endParaRPr lang="en-US" sz="6000" dirty="0"/>
          </a:p>
        </p:txBody>
      </p:sp>
      <p:sp>
        <p:nvSpPr>
          <p:cNvPr id="12" name="Text 10"/>
          <p:cNvSpPr/>
          <p:nvPr/>
        </p:nvSpPr>
        <p:spPr>
          <a:xfrm>
            <a:off x="6720840" y="3154680"/>
            <a:ext cx="2084832" cy="685800"/>
          </a:xfrm>
          <a:prstGeom prst="rect">
            <a:avLst/>
          </a:prstGeom>
          <a:noFill/>
          <a:ln/>
        </p:spPr>
        <p:txBody>
          <a:bodyPr wrap="square" lIns="0" tIns="0" rIns="0" bIns="0" rtlCol="0" anchor="ctr"/>
          <a:lstStyle/>
          <a:p>
            <a:pPr indent="0" marL="0">
              <a:lnSpc>
                <a:spcPts val="1700"/>
              </a:lnSpc>
              <a:buNone/>
            </a:pPr>
            <a:r>
              <a:rPr lang="en-US" sz="1300" dirty="0">
                <a:solidFill>
                  <a:srgbClr val="26221E"/>
                </a:solidFill>
                <a:latin typeface="Calibri" pitchFamily="34" charset="0"/>
                <a:ea typeface="Calibri" pitchFamily="34" charset="-122"/>
                <a:cs typeface="Calibri" pitchFamily="34" charset="-120"/>
              </a:rPr>
              <a:t>pages sharing one 18 character title</a:t>
            </a:r>
            <a:endParaRPr lang="en-US" sz="1300" dirty="0"/>
          </a:p>
        </p:txBody>
      </p:sp>
      <p:sp>
        <p:nvSpPr>
          <p:cNvPr id="13" name="Shape 11"/>
          <p:cNvSpPr/>
          <p:nvPr/>
        </p:nvSpPr>
        <p:spPr>
          <a:xfrm>
            <a:off x="9326880" y="1965960"/>
            <a:ext cx="2542032" cy="1965960"/>
          </a:xfrm>
          <a:prstGeom prst="roundRect">
            <a:avLst>
              <a:gd name="adj" fmla="val 3721"/>
            </a:avLst>
          </a:prstGeom>
          <a:solidFill>
            <a:srgbClr val="F3EDE3"/>
          </a:solidFill>
          <a:ln/>
        </p:spPr>
      </p:sp>
      <p:sp>
        <p:nvSpPr>
          <p:cNvPr id="14" name="Text 12"/>
          <p:cNvSpPr/>
          <p:nvPr/>
        </p:nvSpPr>
        <p:spPr>
          <a:xfrm>
            <a:off x="9555480" y="2148840"/>
            <a:ext cx="2084832" cy="914400"/>
          </a:xfrm>
          <a:prstGeom prst="rect">
            <a:avLst/>
          </a:prstGeom>
          <a:noFill/>
          <a:ln/>
        </p:spPr>
        <p:txBody>
          <a:bodyPr wrap="square" lIns="0" tIns="0" rIns="0" bIns="0" rtlCol="0" anchor="ctr"/>
          <a:lstStyle/>
          <a:p>
            <a:pPr indent="0" marL="0">
              <a:buNone/>
            </a:pPr>
            <a:r>
              <a:rPr lang="en-US" sz="6000" b="1" dirty="0">
                <a:solidFill>
                  <a:srgbClr val="8A6335"/>
                </a:solidFill>
                <a:latin typeface="Cambria" pitchFamily="34" charset="0"/>
                <a:ea typeface="Cambria" pitchFamily="34" charset="-122"/>
                <a:cs typeface="Cambria" pitchFamily="34" charset="-120"/>
              </a:rPr>
              <a:t>0</a:t>
            </a:r>
            <a:endParaRPr lang="en-US" sz="6000" dirty="0"/>
          </a:p>
        </p:txBody>
      </p:sp>
      <p:sp>
        <p:nvSpPr>
          <p:cNvPr id="15" name="Text 13"/>
          <p:cNvSpPr/>
          <p:nvPr/>
        </p:nvSpPr>
        <p:spPr>
          <a:xfrm>
            <a:off x="9555480" y="3154680"/>
            <a:ext cx="2084832" cy="685800"/>
          </a:xfrm>
          <a:prstGeom prst="rect">
            <a:avLst/>
          </a:prstGeom>
          <a:noFill/>
          <a:ln/>
        </p:spPr>
        <p:txBody>
          <a:bodyPr wrap="square" lIns="0" tIns="0" rIns="0" bIns="0" rtlCol="0" anchor="ctr"/>
          <a:lstStyle/>
          <a:p>
            <a:pPr indent="0" marL="0">
              <a:lnSpc>
                <a:spcPts val="1700"/>
              </a:lnSpc>
              <a:buNone/>
            </a:pPr>
            <a:r>
              <a:rPr lang="en-US" sz="1300" dirty="0">
                <a:solidFill>
                  <a:srgbClr val="26221E"/>
                </a:solidFill>
                <a:latin typeface="Calibri" pitchFamily="34" charset="0"/>
                <a:ea typeface="Calibri" pitchFamily="34" charset="-122"/>
                <a:cs typeface="Calibri" pitchFamily="34" charset="-120"/>
              </a:rPr>
              <a:t>service pages behind the three offers</a:t>
            </a:r>
            <a:endParaRPr lang="en-US" sz="1300" dirty="0"/>
          </a:p>
        </p:txBody>
      </p:sp>
      <p:sp>
        <p:nvSpPr>
          <p:cNvPr id="16" name="Shape 14"/>
          <p:cNvSpPr/>
          <p:nvPr/>
        </p:nvSpPr>
        <p:spPr>
          <a:xfrm>
            <a:off x="822960" y="4343400"/>
            <a:ext cx="10543032" cy="1783080"/>
          </a:xfrm>
          <a:prstGeom prst="roundRect">
            <a:avLst>
              <a:gd name="adj" fmla="val 4103"/>
            </a:avLst>
          </a:prstGeom>
          <a:solidFill>
            <a:srgbClr val="2A2521"/>
          </a:solidFill>
          <a:ln/>
        </p:spPr>
      </p:sp>
      <p:sp>
        <p:nvSpPr>
          <p:cNvPr id="17" name="Shape 15"/>
          <p:cNvSpPr/>
          <p:nvPr/>
        </p:nvSpPr>
        <p:spPr>
          <a:xfrm>
            <a:off x="1143000" y="4873752"/>
            <a:ext cx="731520" cy="731520"/>
          </a:xfrm>
          <a:prstGeom prst="ellipse">
            <a:avLst/>
          </a:prstGeom>
          <a:solidFill>
            <a:srgbClr val="A93B26"/>
          </a:solidFill>
          <a:ln/>
        </p:spPr>
      </p:sp>
      <p:pic>
        <p:nvPicPr>
          <p:cNvPr id="18" name="Image 0" descr="preencoded.png">    </p:cNvPr>
          <p:cNvPicPr>
            <a:picLocks noChangeAspect="1"/>
          </p:cNvPicPr>
          <p:nvPr/>
        </p:nvPicPr>
        <p:blipFill>
          <a:blip r:embed="rId1"/>
          <a:stretch>
            <a:fillRect/>
          </a:stretch>
        </p:blipFill>
        <p:spPr>
          <a:xfrm>
            <a:off x="1340510" y="5071262"/>
            <a:ext cx="336499" cy="336499"/>
          </a:xfrm>
          <a:prstGeom prst="rect">
            <a:avLst/>
          </a:prstGeom>
        </p:spPr>
      </p:pic>
      <p:sp>
        <p:nvSpPr>
          <p:cNvPr id="19" name="Text 16"/>
          <p:cNvSpPr/>
          <p:nvPr/>
        </p:nvSpPr>
        <p:spPr>
          <a:xfrm>
            <a:off x="2148840" y="4590288"/>
            <a:ext cx="8915400" cy="1371600"/>
          </a:xfrm>
          <a:prstGeom prst="rect">
            <a:avLst/>
          </a:prstGeom>
          <a:noFill/>
          <a:ln/>
        </p:spPr>
        <p:txBody>
          <a:bodyPr wrap="square" lIns="0" tIns="0" rIns="0" bIns="0" rtlCol="0" anchor="ctr"/>
          <a:lstStyle/>
          <a:p>
            <a:pPr indent="0" marL="0">
              <a:lnSpc>
                <a:spcPts val="1900"/>
              </a:lnSpc>
              <a:spcAft>
                <a:spcPts val="600"/>
              </a:spcAft>
              <a:buNone/>
            </a:pPr>
            <a:r>
              <a:rPr lang="en-US" sz="1600" b="1" dirty="0">
                <a:solidFill>
                  <a:srgbClr val="FFFFFF"/>
                </a:solidFill>
                <a:latin typeface="Calibri" pitchFamily="34" charset="0"/>
                <a:ea typeface="Calibri" pitchFamily="34" charset="-122"/>
                <a:cs typeface="Calibri" pitchFamily="34" charset="-120"/>
              </a:rPr>
              <a:t>The tell that nobody is minding the store</a:t>
            </a:r>
            <a:endParaRPr lang="en-US" sz="1600" dirty="0"/>
          </a:p>
          <a:p>
            <a:pPr indent="0" marL="0">
              <a:lnSpc>
                <a:spcPts val="1900"/>
              </a:lnSpc>
              <a:spcAft>
                <a:spcPts val="600"/>
              </a:spcAft>
              <a:buNone/>
            </a:pPr>
            <a:r>
              <a:rPr lang="en-US" sz="1400" dirty="0">
                <a:solidFill>
                  <a:srgbClr val="D8D2C8"/>
                </a:solidFill>
                <a:latin typeface="Calibri" pitchFamily="34" charset="0"/>
                <a:ea typeface="Calibri" pitchFamily="34" charset="-122"/>
                <a:cs typeface="Calibri" pitchFamily="34" charset="-120"/>
              </a:rPr>
              <a:t>The blog has been publishing under the careers page title, "Join Wolff Construction Team", and Google indexed it that way. My CI gate now fails any build that reintroduces this class of error.</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02920"/>
            <a:ext cx="10515600" cy="640080"/>
          </a:xfrm>
          <a:prstGeom prst="rect">
            <a:avLst/>
          </a:prstGeom>
          <a:noFill/>
          <a:ln/>
        </p:spPr>
        <p:txBody>
          <a:bodyPr wrap="square" lIns="0" tIns="0" rIns="0" bIns="0" rtlCol="0" anchor="ctr"/>
          <a:lstStyle/>
          <a:p>
            <a:pPr indent="0" marL="0">
              <a:buNone/>
            </a:pPr>
            <a:r>
              <a:rPr lang="en-US" sz="3600" b="1" dirty="0">
                <a:solidFill>
                  <a:srgbClr val="26221E"/>
                </a:solidFill>
                <a:latin typeface="Cambria" pitchFamily="34" charset="0"/>
                <a:ea typeface="Cambria" pitchFamily="34" charset="-122"/>
                <a:cs typeface="Cambria" pitchFamily="34" charset="-120"/>
              </a:rPr>
              <a:t>Three structural problems</a:t>
            </a:r>
            <a:endParaRPr lang="en-US" sz="3600" dirty="0"/>
          </a:p>
        </p:txBody>
      </p:sp>
      <p:sp>
        <p:nvSpPr>
          <p:cNvPr id="3" name="Text 1"/>
          <p:cNvSpPr/>
          <p:nvPr/>
        </p:nvSpPr>
        <p:spPr>
          <a:xfrm>
            <a:off x="822960" y="1234440"/>
            <a:ext cx="9875520" cy="457200"/>
          </a:xfrm>
          <a:prstGeom prst="rect">
            <a:avLst/>
          </a:prstGeom>
          <a:noFill/>
          <a:ln/>
        </p:spPr>
        <p:txBody>
          <a:bodyPr wrap="square" lIns="0" tIns="0" rIns="0" bIns="0" rtlCol="0" anchor="ctr"/>
          <a:lstStyle/>
          <a:p>
            <a:pPr indent="0" marL="0">
              <a:buNone/>
            </a:pPr>
            <a:r>
              <a:rPr lang="en-US" sz="1500" dirty="0">
                <a:solidFill>
                  <a:srgbClr val="6E675E"/>
                </a:solidFill>
                <a:latin typeface="Calibri" pitchFamily="34" charset="0"/>
                <a:ea typeface="Calibri" pitchFamily="34" charset="-122"/>
                <a:cs typeface="Calibri" pitchFamily="34" charset="-120"/>
              </a:rPr>
              <a:t>These are not random SEO errors. Each one hides what Wolff sells, where it works, and which Wolff it is.</a:t>
            </a:r>
            <a:endParaRPr lang="en-US" sz="1500" dirty="0"/>
          </a:p>
        </p:txBody>
      </p:sp>
      <p:sp>
        <p:nvSpPr>
          <p:cNvPr id="4" name="Shape 2"/>
          <p:cNvSpPr/>
          <p:nvPr/>
        </p:nvSpPr>
        <p:spPr>
          <a:xfrm>
            <a:off x="822960" y="1965960"/>
            <a:ext cx="3392424" cy="4114800"/>
          </a:xfrm>
          <a:prstGeom prst="roundRect">
            <a:avLst>
              <a:gd name="adj" fmla="val 2156"/>
            </a:avLst>
          </a:prstGeom>
          <a:solidFill>
            <a:srgbClr val="F3EDE3"/>
          </a:solidFill>
          <a:ln/>
        </p:spPr>
      </p:sp>
      <p:sp>
        <p:nvSpPr>
          <p:cNvPr id="5" name="Shape 3"/>
          <p:cNvSpPr/>
          <p:nvPr/>
        </p:nvSpPr>
        <p:spPr>
          <a:xfrm>
            <a:off x="1143000" y="2286000"/>
            <a:ext cx="777240" cy="777240"/>
          </a:xfrm>
          <a:prstGeom prst="ellipse">
            <a:avLst/>
          </a:prstGeom>
          <a:solidFill>
            <a:srgbClr val="8A6335"/>
          </a:solidFill>
          <a:ln/>
        </p:spPr>
      </p:sp>
      <p:pic>
        <p:nvPicPr>
          <p:cNvPr id="6" name="Image 0" descr="preencoded.png">    </p:cNvPr>
          <p:cNvPicPr>
            <a:picLocks noChangeAspect="1"/>
          </p:cNvPicPr>
          <p:nvPr/>
        </p:nvPicPr>
        <p:blipFill>
          <a:blip r:embed="rId1"/>
          <a:stretch>
            <a:fillRect/>
          </a:stretch>
        </p:blipFill>
        <p:spPr>
          <a:xfrm>
            <a:off x="1352855" y="2495855"/>
            <a:ext cx="357530" cy="357530"/>
          </a:xfrm>
          <a:prstGeom prst="rect">
            <a:avLst/>
          </a:prstGeom>
        </p:spPr>
      </p:pic>
      <p:sp>
        <p:nvSpPr>
          <p:cNvPr id="7" name="Text 4"/>
          <p:cNvSpPr/>
          <p:nvPr/>
        </p:nvSpPr>
        <p:spPr>
          <a:xfrm>
            <a:off x="1143000" y="3246120"/>
            <a:ext cx="2752344" cy="594360"/>
          </a:xfrm>
          <a:prstGeom prst="rect">
            <a:avLst/>
          </a:prstGeom>
          <a:noFill/>
          <a:ln/>
        </p:spPr>
        <p:txBody>
          <a:bodyPr wrap="square" lIns="0" tIns="0" rIns="0" bIns="0" rtlCol="0" anchor="ctr"/>
          <a:lstStyle/>
          <a:p>
            <a:pPr indent="0" marL="0">
              <a:lnSpc>
                <a:spcPts val="2200"/>
              </a:lnSpc>
              <a:buNone/>
            </a:pPr>
            <a:r>
              <a:rPr lang="en-US" sz="1900" b="1" dirty="0">
                <a:solidFill>
                  <a:srgbClr val="26221E"/>
                </a:solidFill>
                <a:latin typeface="Cambria" pitchFamily="34" charset="0"/>
                <a:ea typeface="Cambria" pitchFamily="34" charset="-122"/>
                <a:cs typeface="Cambria" pitchFamily="34" charset="-120"/>
              </a:rPr>
              <a:t>An invisible homepage</a:t>
            </a:r>
            <a:endParaRPr lang="en-US" sz="1900" dirty="0"/>
          </a:p>
        </p:txBody>
      </p:sp>
      <p:sp>
        <p:nvSpPr>
          <p:cNvPr id="8" name="Text 5"/>
          <p:cNvSpPr/>
          <p:nvPr/>
        </p:nvSpPr>
        <p:spPr>
          <a:xfrm>
            <a:off x="1143000" y="3886200"/>
            <a:ext cx="2752344" cy="2011680"/>
          </a:xfrm>
          <a:prstGeom prst="rect">
            <a:avLst/>
          </a:prstGeom>
          <a:noFill/>
          <a:ln/>
        </p:spPr>
        <p:txBody>
          <a:bodyPr wrap="square" lIns="0" tIns="0" rIns="0" bIns="0" rtlCol="0" anchor="ctr"/>
          <a:lstStyle/>
          <a:p>
            <a:pPr indent="0" marL="0">
              <a:lnSpc>
                <a:spcPts val="1800"/>
              </a:lnSpc>
              <a:buNone/>
            </a:pPr>
            <a:r>
              <a:rPr lang="en-US" sz="1350" dirty="0">
                <a:solidFill>
                  <a:srgbClr val="6E675E"/>
                </a:solidFill>
                <a:latin typeface="Calibri" pitchFamily="34" charset="0"/>
                <a:ea typeface="Calibri" pitchFamily="34" charset="-122"/>
                <a:cs typeface="Calibri" pitchFamily="34" charset="-120"/>
              </a:rPr>
              <a:t>The homepage title is "Wolff Construction". Eighteen characters, no service, no city. The words Rocklin, Granite Bay and Placer County never appear on the page at all.</a:t>
            </a:r>
            <a:endParaRPr lang="en-US" sz="1350" dirty="0"/>
          </a:p>
        </p:txBody>
      </p:sp>
      <p:sp>
        <p:nvSpPr>
          <p:cNvPr id="9" name="Shape 6"/>
          <p:cNvSpPr/>
          <p:nvPr/>
        </p:nvSpPr>
        <p:spPr>
          <a:xfrm>
            <a:off x="4398264" y="1965960"/>
            <a:ext cx="3392424" cy="4114800"/>
          </a:xfrm>
          <a:prstGeom prst="roundRect">
            <a:avLst>
              <a:gd name="adj" fmla="val 2156"/>
            </a:avLst>
          </a:prstGeom>
          <a:solidFill>
            <a:srgbClr val="F3EDE3"/>
          </a:solidFill>
          <a:ln/>
        </p:spPr>
      </p:sp>
      <p:sp>
        <p:nvSpPr>
          <p:cNvPr id="10" name="Shape 7"/>
          <p:cNvSpPr/>
          <p:nvPr/>
        </p:nvSpPr>
        <p:spPr>
          <a:xfrm>
            <a:off x="4718304" y="2286000"/>
            <a:ext cx="777240" cy="777240"/>
          </a:xfrm>
          <a:prstGeom prst="ellipse">
            <a:avLst/>
          </a:prstGeom>
          <a:solidFill>
            <a:srgbClr val="8A6335"/>
          </a:solidFill>
          <a:ln/>
        </p:spPr>
      </p:sp>
      <p:pic>
        <p:nvPicPr>
          <p:cNvPr id="11" name="Image 1" descr="preencoded.png">    </p:cNvPr>
          <p:cNvPicPr>
            <a:picLocks noChangeAspect="1"/>
          </p:cNvPicPr>
          <p:nvPr/>
        </p:nvPicPr>
        <p:blipFill>
          <a:blip r:embed="rId2"/>
          <a:stretch>
            <a:fillRect/>
          </a:stretch>
        </p:blipFill>
        <p:spPr>
          <a:xfrm>
            <a:off x="4928159" y="2495855"/>
            <a:ext cx="357530" cy="357530"/>
          </a:xfrm>
          <a:prstGeom prst="rect">
            <a:avLst/>
          </a:prstGeom>
        </p:spPr>
      </p:pic>
      <p:sp>
        <p:nvSpPr>
          <p:cNvPr id="12" name="Text 8"/>
          <p:cNvSpPr/>
          <p:nvPr/>
        </p:nvSpPr>
        <p:spPr>
          <a:xfrm>
            <a:off x="4718304" y="3246120"/>
            <a:ext cx="2752344" cy="594360"/>
          </a:xfrm>
          <a:prstGeom prst="rect">
            <a:avLst/>
          </a:prstGeom>
          <a:noFill/>
          <a:ln/>
        </p:spPr>
        <p:txBody>
          <a:bodyPr wrap="square" lIns="0" tIns="0" rIns="0" bIns="0" rtlCol="0" anchor="ctr"/>
          <a:lstStyle/>
          <a:p>
            <a:pPr indent="0" marL="0">
              <a:lnSpc>
                <a:spcPts val="2200"/>
              </a:lnSpc>
              <a:buNone/>
            </a:pPr>
            <a:r>
              <a:rPr lang="en-US" sz="1900" b="1" dirty="0">
                <a:solidFill>
                  <a:srgbClr val="26221E"/>
                </a:solidFill>
                <a:latin typeface="Cambria" pitchFamily="34" charset="0"/>
                <a:ea typeface="Cambria" pitchFamily="34" charset="-122"/>
                <a:cs typeface="Cambria" pitchFamily="34" charset="-120"/>
              </a:rPr>
              <a:t>Zero service pages</a:t>
            </a:r>
            <a:endParaRPr lang="en-US" sz="1900" dirty="0"/>
          </a:p>
        </p:txBody>
      </p:sp>
      <p:sp>
        <p:nvSpPr>
          <p:cNvPr id="13" name="Text 9"/>
          <p:cNvSpPr/>
          <p:nvPr/>
        </p:nvSpPr>
        <p:spPr>
          <a:xfrm>
            <a:off x="4718304" y="3886200"/>
            <a:ext cx="2752344" cy="2011680"/>
          </a:xfrm>
          <a:prstGeom prst="rect">
            <a:avLst/>
          </a:prstGeom>
          <a:noFill/>
          <a:ln/>
        </p:spPr>
        <p:txBody>
          <a:bodyPr wrap="square" lIns="0" tIns="0" rIns="0" bIns="0" rtlCol="0" anchor="ctr"/>
          <a:lstStyle/>
          <a:p>
            <a:pPr indent="0" marL="0">
              <a:lnSpc>
                <a:spcPts val="1800"/>
              </a:lnSpc>
              <a:buNone/>
            </a:pPr>
            <a:r>
              <a:rPr lang="en-US" sz="1350" dirty="0">
                <a:solidFill>
                  <a:srgbClr val="6E675E"/>
                </a:solidFill>
                <a:latin typeface="Calibri" pitchFamily="34" charset="0"/>
                <a:ea typeface="Calibri" pitchFamily="34" charset="-122"/>
                <a:cs typeface="Calibri" pitchFamily="34" charset="-120"/>
              </a:rPr>
              <a:t>All three homepage service tiles link to the contact form. On "luxury kitchen remodel Granite Bay" seven competitors appear with dedicated pages. Wolff appears nowhere.</a:t>
            </a:r>
            <a:endParaRPr lang="en-US" sz="1350" dirty="0"/>
          </a:p>
        </p:txBody>
      </p:sp>
      <p:sp>
        <p:nvSpPr>
          <p:cNvPr id="14" name="Shape 10"/>
          <p:cNvSpPr/>
          <p:nvPr/>
        </p:nvSpPr>
        <p:spPr>
          <a:xfrm>
            <a:off x="7973568" y="1965960"/>
            <a:ext cx="3392424" cy="4114800"/>
          </a:xfrm>
          <a:prstGeom prst="roundRect">
            <a:avLst>
              <a:gd name="adj" fmla="val 2156"/>
            </a:avLst>
          </a:prstGeom>
          <a:solidFill>
            <a:srgbClr val="F3EDE3"/>
          </a:solidFill>
          <a:ln/>
        </p:spPr>
      </p:sp>
      <p:sp>
        <p:nvSpPr>
          <p:cNvPr id="15" name="Shape 11"/>
          <p:cNvSpPr/>
          <p:nvPr/>
        </p:nvSpPr>
        <p:spPr>
          <a:xfrm>
            <a:off x="8293608" y="2286000"/>
            <a:ext cx="777240" cy="777240"/>
          </a:xfrm>
          <a:prstGeom prst="ellipse">
            <a:avLst/>
          </a:prstGeom>
          <a:solidFill>
            <a:srgbClr val="8A6335"/>
          </a:solidFill>
          <a:ln/>
        </p:spPr>
      </p:sp>
      <p:pic>
        <p:nvPicPr>
          <p:cNvPr id="16" name="Image 2" descr="preencoded.png">    </p:cNvPr>
          <p:cNvPicPr>
            <a:picLocks noChangeAspect="1"/>
          </p:cNvPicPr>
          <p:nvPr/>
        </p:nvPicPr>
        <p:blipFill>
          <a:blip r:embed="rId3"/>
          <a:stretch>
            <a:fillRect/>
          </a:stretch>
        </p:blipFill>
        <p:spPr>
          <a:xfrm>
            <a:off x="8503463" y="2495855"/>
            <a:ext cx="357530" cy="357530"/>
          </a:xfrm>
          <a:prstGeom prst="rect">
            <a:avLst/>
          </a:prstGeom>
        </p:spPr>
      </p:pic>
      <p:sp>
        <p:nvSpPr>
          <p:cNvPr id="17" name="Text 12"/>
          <p:cNvSpPr/>
          <p:nvPr/>
        </p:nvSpPr>
        <p:spPr>
          <a:xfrm>
            <a:off x="8293608" y="3246120"/>
            <a:ext cx="2752344" cy="594360"/>
          </a:xfrm>
          <a:prstGeom prst="rect">
            <a:avLst/>
          </a:prstGeom>
          <a:noFill/>
          <a:ln/>
        </p:spPr>
        <p:txBody>
          <a:bodyPr wrap="square" lIns="0" tIns="0" rIns="0" bIns="0" rtlCol="0" anchor="ctr"/>
          <a:lstStyle/>
          <a:p>
            <a:pPr indent="0" marL="0">
              <a:lnSpc>
                <a:spcPts val="2200"/>
              </a:lnSpc>
              <a:buNone/>
            </a:pPr>
            <a:r>
              <a:rPr lang="en-US" sz="1900" b="1" dirty="0">
                <a:solidFill>
                  <a:srgbClr val="26221E"/>
                </a:solidFill>
                <a:latin typeface="Cambria" pitchFamily="34" charset="0"/>
                <a:ea typeface="Cambria" pitchFamily="34" charset="-122"/>
                <a:cs typeface="Cambria" pitchFamily="34" charset="-120"/>
              </a:rPr>
              <a:t>A brand fight, being lost</a:t>
            </a:r>
            <a:endParaRPr lang="en-US" sz="1900" dirty="0"/>
          </a:p>
        </p:txBody>
      </p:sp>
      <p:sp>
        <p:nvSpPr>
          <p:cNvPr id="18" name="Text 13"/>
          <p:cNvSpPr/>
          <p:nvPr/>
        </p:nvSpPr>
        <p:spPr>
          <a:xfrm>
            <a:off x="8293608" y="3886200"/>
            <a:ext cx="2752344" cy="2011680"/>
          </a:xfrm>
          <a:prstGeom prst="rect">
            <a:avLst/>
          </a:prstGeom>
          <a:noFill/>
          <a:ln/>
        </p:spPr>
        <p:txBody>
          <a:bodyPr wrap="square" lIns="0" tIns="0" rIns="0" bIns="0" rtlCol="0" anchor="ctr"/>
          <a:lstStyle/>
          <a:p>
            <a:pPr indent="0" marL="0">
              <a:lnSpc>
                <a:spcPts val="1800"/>
              </a:lnSpc>
              <a:buNone/>
            </a:pPr>
            <a:r>
              <a:rPr lang="en-US" sz="1350" dirty="0">
                <a:solidFill>
                  <a:srgbClr val="6E675E"/>
                </a:solidFill>
                <a:latin typeface="Calibri" pitchFamily="34" charset="0"/>
                <a:ea typeface="Calibri" pitchFamily="34" charset="-122"/>
                <a:cs typeface="Calibri" pitchFamily="34" charset="-120"/>
              </a:rPr>
              <a:t>Another Wolff Construction in San Francisco holds the strong Houzz profile and ranks for the shared name. Nothing on this site tells Google which Wolff is which.</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02920"/>
            <a:ext cx="10515600" cy="640080"/>
          </a:xfrm>
          <a:prstGeom prst="rect">
            <a:avLst/>
          </a:prstGeom>
          <a:noFill/>
          <a:ln/>
        </p:spPr>
        <p:txBody>
          <a:bodyPr wrap="square" lIns="0" tIns="0" rIns="0" bIns="0" rtlCol="0" anchor="ctr"/>
          <a:lstStyle/>
          <a:p>
            <a:pPr indent="0" marL="0">
              <a:buNone/>
            </a:pPr>
            <a:r>
              <a:rPr lang="en-US" sz="3600" b="1" dirty="0">
                <a:solidFill>
                  <a:srgbClr val="26221E"/>
                </a:solidFill>
                <a:latin typeface="Cambria" pitchFamily="34" charset="0"/>
                <a:ea typeface="Cambria" pitchFamily="34" charset="-122"/>
                <a:cs typeface="Cambria" pitchFamily="34" charset="-120"/>
              </a:rPr>
              <a:t>The strategy: proof over volume</a:t>
            </a:r>
            <a:endParaRPr lang="en-US" sz="3600" dirty="0"/>
          </a:p>
        </p:txBody>
      </p:sp>
      <p:sp>
        <p:nvSpPr>
          <p:cNvPr id="3" name="Text 1"/>
          <p:cNvSpPr/>
          <p:nvPr/>
        </p:nvSpPr>
        <p:spPr>
          <a:xfrm>
            <a:off x="822960" y="1554480"/>
            <a:ext cx="4937760" cy="4572000"/>
          </a:xfrm>
          <a:prstGeom prst="rect">
            <a:avLst/>
          </a:prstGeom>
          <a:noFill/>
          <a:ln/>
        </p:spPr>
        <p:txBody>
          <a:bodyPr wrap="square" lIns="0" tIns="0" rIns="0" bIns="0" rtlCol="0" anchor="ctr"/>
          <a:lstStyle/>
          <a:p>
            <a:pPr indent="0" marL="0">
              <a:lnSpc>
                <a:spcPts val="2000"/>
              </a:lnSpc>
              <a:buNone/>
            </a:pPr>
            <a:r>
              <a:rPr lang="en-US" sz="1450" dirty="0">
                <a:solidFill>
                  <a:srgbClr val="26221E"/>
                </a:solidFill>
                <a:latin typeface="Calibri" pitchFamily="34" charset="0"/>
                <a:ea typeface="Calibri" pitchFamily="34" charset="-122"/>
                <a:cs typeface="Calibri" pitchFamily="34" charset="-120"/>
              </a:rPr>
              <a:t>Wolff runs about 19 permitted projects in three years, by design. It cannot out publish GVD Renovations or out review a company with 921 reviews. A volume playbook loses, and loses expensively.</a:t>
            </a:r>
            <a:endParaRPr lang="en-US" sz="1450" dirty="0"/>
          </a:p>
          <a:p>
            <a:pPr indent="0" marL="0">
              <a:lnSpc>
                <a:spcPts val="2000"/>
              </a:lnSpc>
              <a:buNone/>
            </a:pPr>
            <a:endParaRPr lang="en-US" sz="1450" dirty="0"/>
          </a:p>
          <a:p>
            <a:pPr indent="0" marL="0">
              <a:lnSpc>
                <a:spcPts val="2000"/>
              </a:lnSpc>
              <a:buNone/>
            </a:pPr>
            <a:r>
              <a:rPr lang="en-US" sz="1450" dirty="0">
                <a:solidFill>
                  <a:srgbClr val="26221E"/>
                </a:solidFill>
                <a:latin typeface="Calibri" pitchFamily="34" charset="0"/>
                <a:ea typeface="Calibri" pitchFamily="34" charset="-122"/>
                <a:cs typeface="Calibri" pitchFamily="34" charset="-120"/>
              </a:rPr>
              <a:t>What Wolff has is provenance: a named founder, a named project manager, CSLB 1056036, a top 1 percent permit record, NARI and NKBA membership, and deep reviews from realtors and designers.</a:t>
            </a:r>
            <a:endParaRPr lang="en-US" sz="1450" dirty="0"/>
          </a:p>
          <a:p>
            <a:pPr indent="0" marL="0">
              <a:lnSpc>
                <a:spcPts val="2000"/>
              </a:lnSpc>
              <a:buNone/>
            </a:pPr>
            <a:endParaRPr lang="en-US" sz="1450" dirty="0"/>
          </a:p>
          <a:p>
            <a:pPr indent="0" marL="0">
              <a:lnSpc>
                <a:spcPts val="2000"/>
              </a:lnSpc>
              <a:buNone/>
            </a:pPr>
            <a:r>
              <a:rPr lang="en-US" sz="1450" i="1" dirty="0">
                <a:solidFill>
                  <a:srgbClr val="8A6335"/>
                </a:solidFill>
                <a:latin typeface="Calibri" pitchFamily="34" charset="0"/>
                <a:ea typeface="Calibri" pitchFamily="34" charset="-122"/>
                <a:cs typeface="Calibri" pitchFamily="34" charset="-120"/>
              </a:rPr>
              <a:t>That is exactly what AI answer engines reward and what thin volume competitors cannot fake. Wolff wins by being the most verifiable, most specific, most human entity in the Placer County luxury remodel space.</a:t>
            </a:r>
            <a:endParaRPr lang="en-US" sz="1450" dirty="0"/>
          </a:p>
        </p:txBody>
      </p:sp>
      <p:sp>
        <p:nvSpPr>
          <p:cNvPr id="4" name="Shape 2"/>
          <p:cNvSpPr/>
          <p:nvPr/>
        </p:nvSpPr>
        <p:spPr>
          <a:xfrm>
            <a:off x="6309360" y="1600200"/>
            <a:ext cx="566928" cy="566928"/>
          </a:xfrm>
          <a:prstGeom prst="ellipse">
            <a:avLst/>
          </a:prstGeom>
          <a:solidFill>
            <a:srgbClr val="8A6335"/>
          </a:solidFill>
          <a:ln/>
        </p:spPr>
      </p:sp>
      <p:pic>
        <p:nvPicPr>
          <p:cNvPr id="5" name="Image 0" descr="preencoded.png">    </p:cNvPr>
          <p:cNvPicPr>
            <a:picLocks noChangeAspect="1"/>
          </p:cNvPicPr>
          <p:nvPr/>
        </p:nvPicPr>
        <p:blipFill>
          <a:blip r:embed="rId1"/>
          <a:stretch>
            <a:fillRect/>
          </a:stretch>
        </p:blipFill>
        <p:spPr>
          <a:xfrm>
            <a:off x="6462431" y="1753271"/>
            <a:ext cx="260787" cy="260787"/>
          </a:xfrm>
          <a:prstGeom prst="rect">
            <a:avLst/>
          </a:prstGeom>
        </p:spPr>
      </p:pic>
      <p:sp>
        <p:nvSpPr>
          <p:cNvPr id="6" name="Text 3"/>
          <p:cNvSpPr/>
          <p:nvPr/>
        </p:nvSpPr>
        <p:spPr>
          <a:xfrm>
            <a:off x="7086600" y="1527048"/>
            <a:ext cx="5029200" cy="932688"/>
          </a:xfrm>
          <a:prstGeom prst="rect">
            <a:avLst/>
          </a:prstGeom>
          <a:noFill/>
          <a:ln/>
        </p:spPr>
        <p:txBody>
          <a:bodyPr wrap="square" lIns="0" tIns="0" rIns="0" bIns="0" rtlCol="0" anchor="ctr"/>
          <a:lstStyle/>
          <a:p>
            <a:pPr indent="0" marL="0">
              <a:lnSpc>
                <a:spcPts val="1500"/>
              </a:lnSpc>
              <a:spcAft>
                <a:spcPts val="300"/>
              </a:spcAft>
              <a:buNone/>
            </a:pPr>
            <a:r>
              <a:rPr lang="en-US" sz="1500" b="1" dirty="0">
                <a:solidFill>
                  <a:srgbClr val="26221E"/>
                </a:solidFill>
                <a:latin typeface="Calibri" pitchFamily="34" charset="0"/>
                <a:ea typeface="Calibri" pitchFamily="34" charset="-122"/>
                <a:cs typeface="Calibri" pitchFamily="34" charset="-120"/>
              </a:rPr>
              <a:t>Entity</a:t>
            </a:r>
            <a:endParaRPr lang="en-US" sz="1500" dirty="0"/>
          </a:p>
          <a:p>
            <a:pPr indent="0" marL="0">
              <a:lnSpc>
                <a:spcPts val="1500"/>
              </a:lnSpc>
              <a:spcAft>
                <a:spcPts val="300"/>
              </a:spcAft>
              <a:buNone/>
            </a:pPr>
            <a:r>
              <a:rPr lang="en-US" sz="1250" dirty="0">
                <a:solidFill>
                  <a:srgbClr val="6E675E"/>
                </a:solidFill>
                <a:latin typeface="Calibri" pitchFamily="34" charset="0"/>
                <a:ea typeface="Calibri" pitchFamily="34" charset="-122"/>
                <a:cs typeface="Calibri" pitchFamily="34" charset="-120"/>
              </a:rPr>
              <a:t>Every engine resolves the name to the Rocklin firm, never the SF firm.</a:t>
            </a:r>
            <a:endParaRPr lang="en-US" sz="1500" dirty="0"/>
          </a:p>
        </p:txBody>
      </p:sp>
      <p:sp>
        <p:nvSpPr>
          <p:cNvPr id="7" name="Shape 4"/>
          <p:cNvSpPr/>
          <p:nvPr/>
        </p:nvSpPr>
        <p:spPr>
          <a:xfrm>
            <a:off x="6309360" y="2532888"/>
            <a:ext cx="566928" cy="566928"/>
          </a:xfrm>
          <a:prstGeom prst="ellipse">
            <a:avLst/>
          </a:prstGeom>
          <a:solidFill>
            <a:srgbClr val="8A6335"/>
          </a:solidFill>
          <a:ln/>
        </p:spPr>
      </p:sp>
      <p:pic>
        <p:nvPicPr>
          <p:cNvPr id="8" name="Image 1" descr="preencoded.png">    </p:cNvPr>
          <p:cNvPicPr>
            <a:picLocks noChangeAspect="1"/>
          </p:cNvPicPr>
          <p:nvPr/>
        </p:nvPicPr>
        <p:blipFill>
          <a:blip r:embed="rId2"/>
          <a:stretch>
            <a:fillRect/>
          </a:stretch>
        </p:blipFill>
        <p:spPr>
          <a:xfrm>
            <a:off x="6462431" y="2685959"/>
            <a:ext cx="260787" cy="260787"/>
          </a:xfrm>
          <a:prstGeom prst="rect">
            <a:avLst/>
          </a:prstGeom>
        </p:spPr>
      </p:pic>
      <p:sp>
        <p:nvSpPr>
          <p:cNvPr id="9" name="Text 5"/>
          <p:cNvSpPr/>
          <p:nvPr/>
        </p:nvSpPr>
        <p:spPr>
          <a:xfrm>
            <a:off x="7086600" y="2459736"/>
            <a:ext cx="5029200" cy="932688"/>
          </a:xfrm>
          <a:prstGeom prst="rect">
            <a:avLst/>
          </a:prstGeom>
          <a:noFill/>
          <a:ln/>
        </p:spPr>
        <p:txBody>
          <a:bodyPr wrap="square" lIns="0" tIns="0" rIns="0" bIns="0" rtlCol="0" anchor="ctr"/>
          <a:lstStyle/>
          <a:p>
            <a:pPr indent="0" marL="0">
              <a:lnSpc>
                <a:spcPts val="1500"/>
              </a:lnSpc>
              <a:spcAft>
                <a:spcPts val="300"/>
              </a:spcAft>
              <a:buNone/>
            </a:pPr>
            <a:r>
              <a:rPr lang="en-US" sz="1500" b="1" dirty="0">
                <a:solidFill>
                  <a:srgbClr val="26221E"/>
                </a:solidFill>
                <a:latin typeface="Calibri" pitchFamily="34" charset="0"/>
                <a:ea typeface="Calibri" pitchFamily="34" charset="-122"/>
                <a:cs typeface="Calibri" pitchFamily="34" charset="-120"/>
              </a:rPr>
              <a:t>Evidence</a:t>
            </a:r>
            <a:endParaRPr lang="en-US" sz="1500" dirty="0"/>
          </a:p>
          <a:p>
            <a:pPr indent="0" marL="0">
              <a:lnSpc>
                <a:spcPts val="1500"/>
              </a:lnSpc>
              <a:spcAft>
                <a:spcPts val="300"/>
              </a:spcAft>
              <a:buNone/>
            </a:pPr>
            <a:r>
              <a:rPr lang="en-US" sz="1250" dirty="0">
                <a:solidFill>
                  <a:srgbClr val="6E675E"/>
                </a:solidFill>
                <a:latin typeface="Calibri" pitchFamily="34" charset="0"/>
                <a:ea typeface="Calibri" pitchFamily="34" charset="-122"/>
                <a:cs typeface="Calibri" pitchFamily="34" charset="-120"/>
              </a:rPr>
              <a:t>Every claim backed by a verifiable artifact: license, permits, sourced reviews.</a:t>
            </a:r>
            <a:endParaRPr lang="en-US" sz="1500" dirty="0"/>
          </a:p>
        </p:txBody>
      </p:sp>
      <p:sp>
        <p:nvSpPr>
          <p:cNvPr id="10" name="Shape 6"/>
          <p:cNvSpPr/>
          <p:nvPr/>
        </p:nvSpPr>
        <p:spPr>
          <a:xfrm>
            <a:off x="6309360" y="3465576"/>
            <a:ext cx="566928" cy="566928"/>
          </a:xfrm>
          <a:prstGeom prst="ellipse">
            <a:avLst/>
          </a:prstGeom>
          <a:solidFill>
            <a:srgbClr val="8A6335"/>
          </a:solidFill>
          <a:ln/>
        </p:spPr>
      </p:sp>
      <p:pic>
        <p:nvPicPr>
          <p:cNvPr id="11" name="Image 2" descr="preencoded.png">    </p:cNvPr>
          <p:cNvPicPr>
            <a:picLocks noChangeAspect="1"/>
          </p:cNvPicPr>
          <p:nvPr/>
        </p:nvPicPr>
        <p:blipFill>
          <a:blip r:embed="rId3"/>
          <a:stretch>
            <a:fillRect/>
          </a:stretch>
        </p:blipFill>
        <p:spPr>
          <a:xfrm>
            <a:off x="6462431" y="3618647"/>
            <a:ext cx="260787" cy="260787"/>
          </a:xfrm>
          <a:prstGeom prst="rect">
            <a:avLst/>
          </a:prstGeom>
        </p:spPr>
      </p:pic>
      <p:sp>
        <p:nvSpPr>
          <p:cNvPr id="12" name="Text 7"/>
          <p:cNvSpPr/>
          <p:nvPr/>
        </p:nvSpPr>
        <p:spPr>
          <a:xfrm>
            <a:off x="7086600" y="3392424"/>
            <a:ext cx="5029200" cy="932688"/>
          </a:xfrm>
          <a:prstGeom prst="rect">
            <a:avLst/>
          </a:prstGeom>
          <a:noFill/>
          <a:ln/>
        </p:spPr>
        <p:txBody>
          <a:bodyPr wrap="square" lIns="0" tIns="0" rIns="0" bIns="0" rtlCol="0" anchor="ctr"/>
          <a:lstStyle/>
          <a:p>
            <a:pPr indent="0" marL="0">
              <a:lnSpc>
                <a:spcPts val="1500"/>
              </a:lnSpc>
              <a:spcAft>
                <a:spcPts val="300"/>
              </a:spcAft>
              <a:buNone/>
            </a:pPr>
            <a:r>
              <a:rPr lang="en-US" sz="1500" b="1" dirty="0">
                <a:solidFill>
                  <a:srgbClr val="26221E"/>
                </a:solidFill>
                <a:latin typeface="Calibri" pitchFamily="34" charset="0"/>
                <a:ea typeface="Calibri" pitchFamily="34" charset="-122"/>
                <a:cs typeface="Calibri" pitchFamily="34" charset="-120"/>
              </a:rPr>
              <a:t>Answer (AEO)</a:t>
            </a:r>
            <a:endParaRPr lang="en-US" sz="1500" dirty="0"/>
          </a:p>
          <a:p>
            <a:pPr indent="0" marL="0">
              <a:lnSpc>
                <a:spcPts val="1500"/>
              </a:lnSpc>
              <a:spcAft>
                <a:spcPts val="300"/>
              </a:spcAft>
              <a:buNone/>
            </a:pPr>
            <a:r>
              <a:rPr lang="en-US" sz="1250" dirty="0">
                <a:solidFill>
                  <a:srgbClr val="6E675E"/>
                </a:solidFill>
                <a:latin typeface="Calibri" pitchFamily="34" charset="0"/>
                <a:ea typeface="Calibri" pitchFamily="34" charset="-122"/>
                <a:cs typeface="Calibri" pitchFamily="34" charset="-120"/>
              </a:rPr>
              <a:t>Own the questions a $150k to $500k homeowner asks, in extractable format.</a:t>
            </a:r>
            <a:endParaRPr lang="en-US" sz="1500" dirty="0"/>
          </a:p>
        </p:txBody>
      </p:sp>
      <p:sp>
        <p:nvSpPr>
          <p:cNvPr id="13" name="Shape 8"/>
          <p:cNvSpPr/>
          <p:nvPr/>
        </p:nvSpPr>
        <p:spPr>
          <a:xfrm>
            <a:off x="6309360" y="4398264"/>
            <a:ext cx="566928" cy="566928"/>
          </a:xfrm>
          <a:prstGeom prst="ellipse">
            <a:avLst/>
          </a:prstGeom>
          <a:solidFill>
            <a:srgbClr val="8A6335"/>
          </a:solidFill>
          <a:ln/>
        </p:spPr>
      </p:sp>
      <p:pic>
        <p:nvPicPr>
          <p:cNvPr id="14" name="Image 3" descr="preencoded.png">    </p:cNvPr>
          <p:cNvPicPr>
            <a:picLocks noChangeAspect="1"/>
          </p:cNvPicPr>
          <p:nvPr/>
        </p:nvPicPr>
        <p:blipFill>
          <a:blip r:embed="rId4"/>
          <a:stretch>
            <a:fillRect/>
          </a:stretch>
        </p:blipFill>
        <p:spPr>
          <a:xfrm>
            <a:off x="6462431" y="4551335"/>
            <a:ext cx="260787" cy="260787"/>
          </a:xfrm>
          <a:prstGeom prst="rect">
            <a:avLst/>
          </a:prstGeom>
        </p:spPr>
      </p:pic>
      <p:sp>
        <p:nvSpPr>
          <p:cNvPr id="15" name="Text 9"/>
          <p:cNvSpPr/>
          <p:nvPr/>
        </p:nvSpPr>
        <p:spPr>
          <a:xfrm>
            <a:off x="7086600" y="4325112"/>
            <a:ext cx="5029200" cy="932688"/>
          </a:xfrm>
          <a:prstGeom prst="rect">
            <a:avLst/>
          </a:prstGeom>
          <a:noFill/>
          <a:ln/>
        </p:spPr>
        <p:txBody>
          <a:bodyPr wrap="square" lIns="0" tIns="0" rIns="0" bIns="0" rtlCol="0" anchor="ctr"/>
          <a:lstStyle/>
          <a:p>
            <a:pPr indent="0" marL="0">
              <a:lnSpc>
                <a:spcPts val="1500"/>
              </a:lnSpc>
              <a:spcAft>
                <a:spcPts val="300"/>
              </a:spcAft>
              <a:buNone/>
            </a:pPr>
            <a:r>
              <a:rPr lang="en-US" sz="1500" b="1" dirty="0">
                <a:solidFill>
                  <a:srgbClr val="26221E"/>
                </a:solidFill>
                <a:latin typeface="Calibri" pitchFamily="34" charset="0"/>
                <a:ea typeface="Calibri" pitchFamily="34" charset="-122"/>
                <a:cs typeface="Calibri" pitchFamily="34" charset="-120"/>
              </a:rPr>
              <a:t>Retrieval (GEO)</a:t>
            </a:r>
            <a:endParaRPr lang="en-US" sz="1500" dirty="0"/>
          </a:p>
          <a:p>
            <a:pPr indent="0" marL="0">
              <a:lnSpc>
                <a:spcPts val="1500"/>
              </a:lnSpc>
              <a:spcAft>
                <a:spcPts val="300"/>
              </a:spcAft>
              <a:buNone/>
            </a:pPr>
            <a:r>
              <a:rPr lang="en-US" sz="1250" dirty="0">
                <a:solidFill>
                  <a:srgbClr val="6E675E"/>
                </a:solidFill>
                <a:latin typeface="Calibri" pitchFamily="34" charset="0"/>
                <a:ea typeface="Calibri" pitchFamily="34" charset="-122"/>
                <a:cs typeface="Calibri" pitchFamily="34" charset="-120"/>
              </a:rPr>
              <a:t>Exist in the sources answer engines cite: Houzz, GBP, directories, partners.</a:t>
            </a:r>
            <a:endParaRPr lang="en-US" sz="1500" dirty="0"/>
          </a:p>
        </p:txBody>
      </p:sp>
      <p:sp>
        <p:nvSpPr>
          <p:cNvPr id="16" name="Shape 10"/>
          <p:cNvSpPr/>
          <p:nvPr/>
        </p:nvSpPr>
        <p:spPr>
          <a:xfrm>
            <a:off x="6309360" y="5330952"/>
            <a:ext cx="566928" cy="566928"/>
          </a:xfrm>
          <a:prstGeom prst="ellipse">
            <a:avLst/>
          </a:prstGeom>
          <a:solidFill>
            <a:srgbClr val="8A6335"/>
          </a:solidFill>
          <a:ln/>
        </p:spPr>
      </p:sp>
      <p:pic>
        <p:nvPicPr>
          <p:cNvPr id="17" name="Image 4" descr="preencoded.png">    </p:cNvPr>
          <p:cNvPicPr>
            <a:picLocks noChangeAspect="1"/>
          </p:cNvPicPr>
          <p:nvPr/>
        </p:nvPicPr>
        <p:blipFill>
          <a:blip r:embed="rId5"/>
          <a:stretch>
            <a:fillRect/>
          </a:stretch>
        </p:blipFill>
        <p:spPr>
          <a:xfrm>
            <a:off x="6462431" y="5484023"/>
            <a:ext cx="260787" cy="260787"/>
          </a:xfrm>
          <a:prstGeom prst="rect">
            <a:avLst/>
          </a:prstGeom>
        </p:spPr>
      </p:pic>
      <p:sp>
        <p:nvSpPr>
          <p:cNvPr id="18" name="Text 11"/>
          <p:cNvSpPr/>
          <p:nvPr/>
        </p:nvSpPr>
        <p:spPr>
          <a:xfrm>
            <a:off x="7086600" y="5257800"/>
            <a:ext cx="5029200" cy="932688"/>
          </a:xfrm>
          <a:prstGeom prst="rect">
            <a:avLst/>
          </a:prstGeom>
          <a:noFill/>
          <a:ln/>
        </p:spPr>
        <p:txBody>
          <a:bodyPr wrap="square" lIns="0" tIns="0" rIns="0" bIns="0" rtlCol="0" anchor="ctr"/>
          <a:lstStyle/>
          <a:p>
            <a:pPr indent="0" marL="0">
              <a:lnSpc>
                <a:spcPts val="1500"/>
              </a:lnSpc>
              <a:spcAft>
                <a:spcPts val="300"/>
              </a:spcAft>
              <a:buNone/>
            </a:pPr>
            <a:r>
              <a:rPr lang="en-US" sz="1500" b="1" dirty="0">
                <a:solidFill>
                  <a:srgbClr val="26221E"/>
                </a:solidFill>
                <a:latin typeface="Calibri" pitchFamily="34" charset="0"/>
                <a:ea typeface="Calibri" pitchFamily="34" charset="-122"/>
                <a:cs typeface="Calibri" pitchFamily="34" charset="-120"/>
              </a:rPr>
              <a:t>Qualification</a:t>
            </a:r>
            <a:endParaRPr lang="en-US" sz="1500" dirty="0"/>
          </a:p>
          <a:p>
            <a:pPr indent="0" marL="0">
              <a:lnSpc>
                <a:spcPts val="1500"/>
              </a:lnSpc>
              <a:spcAft>
                <a:spcPts val="300"/>
              </a:spcAft>
              <a:buNone/>
            </a:pPr>
            <a:r>
              <a:rPr lang="en-US" sz="1250" dirty="0">
                <a:solidFill>
                  <a:srgbClr val="6E675E"/>
                </a:solidFill>
                <a:latin typeface="Calibri" pitchFamily="34" charset="0"/>
                <a:ea typeface="Calibri" pitchFamily="34" charset="-122"/>
                <a:cs typeface="Calibri" pitchFamily="34" charset="-120"/>
              </a:rPr>
              <a:t>Two to four right budget consultations a month. Not traffic.</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2A2521"/>
        </a:solidFill>
      </p:bgPr>
    </p:bg>
    <p:spTree>
      <p:nvGrpSpPr>
        <p:cNvPr id="1" name=""/>
        <p:cNvGrpSpPr/>
        <p:nvPr/>
      </p:nvGrpSpPr>
      <p:grpSpPr>
        <a:xfrm>
          <a:off x="0" y="0"/>
          <a:ext cx="0" cy="0"/>
          <a:chOff x="0" y="0"/>
          <a:chExt cx="0" cy="0"/>
        </a:xfrm>
      </p:grpSpPr>
      <p:sp>
        <p:nvSpPr>
          <p:cNvPr id="2" name="Text 0"/>
          <p:cNvSpPr/>
          <p:nvPr/>
        </p:nvSpPr>
        <p:spPr>
          <a:xfrm>
            <a:off x="822960" y="502920"/>
            <a:ext cx="10515600" cy="64008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The delivery system is already built</a:t>
            </a:r>
            <a:endParaRPr lang="en-US" sz="3600" dirty="0"/>
          </a:p>
        </p:txBody>
      </p:sp>
      <p:sp>
        <p:nvSpPr>
          <p:cNvPr id="3" name="Text 1"/>
          <p:cNvSpPr/>
          <p:nvPr/>
        </p:nvSpPr>
        <p:spPr>
          <a:xfrm>
            <a:off x="822960" y="1234440"/>
            <a:ext cx="10058400" cy="457200"/>
          </a:xfrm>
          <a:prstGeom prst="rect">
            <a:avLst/>
          </a:prstGeom>
          <a:noFill/>
          <a:ln/>
        </p:spPr>
        <p:txBody>
          <a:bodyPr wrap="square" lIns="0" tIns="0" rIns="0" bIns="0" rtlCol="0" anchor="ctr"/>
          <a:lstStyle/>
          <a:p>
            <a:pPr indent="0" marL="0">
              <a:buNone/>
            </a:pPr>
            <a:r>
              <a:rPr lang="en-US" sz="1500" dirty="0">
                <a:solidFill>
                  <a:srgbClr val="D8D2C8"/>
                </a:solidFill>
                <a:latin typeface="Calibri" pitchFamily="34" charset="0"/>
                <a:ea typeface="Calibri" pitchFamily="34" charset="-122"/>
                <a:cs typeface="Calibri" pitchFamily="34" charset="-120"/>
              </a:rPr>
              <a:t>Duda has no SSH, FTP or git. This pipeline gives it diffs, review, rollback and history, and ships updates at scale.</a:t>
            </a:r>
            <a:endParaRPr lang="en-US" sz="1500" dirty="0"/>
          </a:p>
        </p:txBody>
      </p:sp>
      <p:sp>
        <p:nvSpPr>
          <p:cNvPr id="4" name="Shape 2"/>
          <p:cNvSpPr/>
          <p:nvPr/>
        </p:nvSpPr>
        <p:spPr>
          <a:xfrm>
            <a:off x="822960" y="2011680"/>
            <a:ext cx="2395728" cy="2651760"/>
          </a:xfrm>
          <a:prstGeom prst="roundRect">
            <a:avLst>
              <a:gd name="adj" fmla="val 3053"/>
            </a:avLst>
          </a:prstGeom>
          <a:solidFill>
            <a:srgbClr val="363029"/>
          </a:solidFill>
          <a:ln w="12700">
            <a:solidFill>
              <a:srgbClr val="A97E48"/>
            </a:solidFill>
            <a:prstDash val="solid"/>
          </a:ln>
        </p:spPr>
      </p:sp>
      <p:sp>
        <p:nvSpPr>
          <p:cNvPr id="5" name="Shape 3"/>
          <p:cNvSpPr/>
          <p:nvPr/>
        </p:nvSpPr>
        <p:spPr>
          <a:xfrm>
            <a:off x="1097280" y="2286000"/>
            <a:ext cx="685800" cy="685800"/>
          </a:xfrm>
          <a:prstGeom prst="ellipse">
            <a:avLst/>
          </a:prstGeom>
          <a:solidFill>
            <a:srgbClr val="A97E48"/>
          </a:solidFill>
          <a:ln/>
        </p:spPr>
      </p:sp>
      <p:pic>
        <p:nvPicPr>
          <p:cNvPr id="6" name="Image 0" descr="preencoded.png">    </p:cNvPr>
          <p:cNvPicPr>
            <a:picLocks noChangeAspect="1"/>
          </p:cNvPicPr>
          <p:nvPr/>
        </p:nvPicPr>
        <p:blipFill>
          <a:blip r:embed="rId1"/>
          <a:stretch>
            <a:fillRect/>
          </a:stretch>
        </p:blipFill>
        <p:spPr>
          <a:xfrm>
            <a:off x="1282446" y="2471166"/>
            <a:ext cx="315468" cy="315468"/>
          </a:xfrm>
          <a:prstGeom prst="rect">
            <a:avLst/>
          </a:prstGeom>
        </p:spPr>
      </p:pic>
      <p:sp>
        <p:nvSpPr>
          <p:cNvPr id="7" name="Text 4"/>
          <p:cNvSpPr/>
          <p:nvPr/>
        </p:nvSpPr>
        <p:spPr>
          <a:xfrm>
            <a:off x="1097280" y="3108960"/>
            <a:ext cx="1847088" cy="41148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Claude + Codex</a:t>
            </a:r>
            <a:endParaRPr lang="en-US" sz="1700" dirty="0"/>
          </a:p>
        </p:txBody>
      </p:sp>
      <p:sp>
        <p:nvSpPr>
          <p:cNvPr id="8" name="Text 5"/>
          <p:cNvSpPr/>
          <p:nvPr/>
        </p:nvSpPr>
        <p:spPr>
          <a:xfrm>
            <a:off x="1097280" y="3547872"/>
            <a:ext cx="1847088" cy="1005840"/>
          </a:xfrm>
          <a:prstGeom prst="rect">
            <a:avLst/>
          </a:prstGeom>
          <a:noFill/>
          <a:ln/>
        </p:spPr>
        <p:txBody>
          <a:bodyPr wrap="square" lIns="0" tIns="0" rIns="0" bIns="0" rtlCol="0" anchor="ctr"/>
          <a:lstStyle/>
          <a:p>
            <a:pPr indent="0" marL="0">
              <a:lnSpc>
                <a:spcPts val="1600"/>
              </a:lnSpc>
              <a:buNone/>
            </a:pPr>
            <a:r>
              <a:rPr lang="en-US" sz="1200" dirty="0">
                <a:solidFill>
                  <a:srgbClr val="D8D2C8"/>
                </a:solidFill>
                <a:latin typeface="Calibri" pitchFamily="34" charset="0"/>
                <a:ea typeface="Calibri" pitchFamily="34" charset="-122"/>
                <a:cs typeface="Calibri" pitchFamily="34" charset="-120"/>
              </a:rPr>
              <a:t>One agent implements, a second reviews adversarially against the rule file.</a:t>
            </a:r>
            <a:endParaRPr lang="en-US" sz="1200" dirty="0"/>
          </a:p>
        </p:txBody>
      </p:sp>
      <p:sp>
        <p:nvSpPr>
          <p:cNvPr id="9" name="Text 6"/>
          <p:cNvSpPr/>
          <p:nvPr/>
        </p:nvSpPr>
        <p:spPr>
          <a:xfrm>
            <a:off x="3200400" y="3063240"/>
            <a:ext cx="374904" cy="548640"/>
          </a:xfrm>
          <a:prstGeom prst="rect">
            <a:avLst/>
          </a:prstGeom>
          <a:noFill/>
          <a:ln/>
        </p:spPr>
        <p:txBody>
          <a:bodyPr wrap="square" lIns="0" tIns="0" rIns="0" bIns="0" rtlCol="0" anchor="ctr"/>
          <a:lstStyle/>
          <a:p>
            <a:pPr algn="ctr" indent="0" marL="0">
              <a:buNone/>
            </a:pPr>
            <a:r>
              <a:rPr lang="en-US" sz="2200" dirty="0">
                <a:solidFill>
                  <a:srgbClr val="A97E48"/>
                </a:solidFill>
                <a:latin typeface="Calibri" pitchFamily="34" charset="0"/>
                <a:ea typeface="Calibri" pitchFamily="34" charset="-122"/>
                <a:cs typeface="Calibri" pitchFamily="34" charset="-120"/>
              </a:rPr>
              <a:t>→</a:t>
            </a:r>
            <a:endParaRPr lang="en-US" sz="2200" dirty="0"/>
          </a:p>
        </p:txBody>
      </p:sp>
      <p:sp>
        <p:nvSpPr>
          <p:cNvPr id="10" name="Shape 7"/>
          <p:cNvSpPr/>
          <p:nvPr/>
        </p:nvSpPr>
        <p:spPr>
          <a:xfrm>
            <a:off x="3538728" y="2011680"/>
            <a:ext cx="2395728" cy="2651760"/>
          </a:xfrm>
          <a:prstGeom prst="roundRect">
            <a:avLst>
              <a:gd name="adj" fmla="val 3053"/>
            </a:avLst>
          </a:prstGeom>
          <a:solidFill>
            <a:srgbClr val="363029"/>
          </a:solidFill>
          <a:ln w="12700">
            <a:solidFill>
              <a:srgbClr val="A97E48"/>
            </a:solidFill>
            <a:prstDash val="solid"/>
          </a:ln>
        </p:spPr>
      </p:sp>
      <p:sp>
        <p:nvSpPr>
          <p:cNvPr id="11" name="Shape 8"/>
          <p:cNvSpPr/>
          <p:nvPr/>
        </p:nvSpPr>
        <p:spPr>
          <a:xfrm>
            <a:off x="3813048" y="2286000"/>
            <a:ext cx="685800" cy="685800"/>
          </a:xfrm>
          <a:prstGeom prst="ellipse">
            <a:avLst/>
          </a:prstGeom>
          <a:solidFill>
            <a:srgbClr val="A97E48"/>
          </a:solidFill>
          <a:ln/>
        </p:spPr>
      </p:sp>
      <p:pic>
        <p:nvPicPr>
          <p:cNvPr id="12" name="Image 1" descr="preencoded.png">    </p:cNvPr>
          <p:cNvPicPr>
            <a:picLocks noChangeAspect="1"/>
          </p:cNvPicPr>
          <p:nvPr/>
        </p:nvPicPr>
        <p:blipFill>
          <a:blip r:embed="rId2"/>
          <a:stretch>
            <a:fillRect/>
          </a:stretch>
        </p:blipFill>
        <p:spPr>
          <a:xfrm>
            <a:off x="3998214" y="2471166"/>
            <a:ext cx="315468" cy="315468"/>
          </a:xfrm>
          <a:prstGeom prst="rect">
            <a:avLst/>
          </a:prstGeom>
        </p:spPr>
      </p:pic>
      <p:sp>
        <p:nvSpPr>
          <p:cNvPr id="13" name="Text 9"/>
          <p:cNvSpPr/>
          <p:nvPr/>
        </p:nvSpPr>
        <p:spPr>
          <a:xfrm>
            <a:off x="3813048" y="3108960"/>
            <a:ext cx="1847088" cy="41148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GitHub</a:t>
            </a:r>
            <a:endParaRPr lang="en-US" sz="1700" dirty="0"/>
          </a:p>
        </p:txBody>
      </p:sp>
      <p:sp>
        <p:nvSpPr>
          <p:cNvPr id="14" name="Text 10"/>
          <p:cNvSpPr/>
          <p:nvPr/>
        </p:nvSpPr>
        <p:spPr>
          <a:xfrm>
            <a:off x="3813048" y="3547872"/>
            <a:ext cx="1847088" cy="1005840"/>
          </a:xfrm>
          <a:prstGeom prst="rect">
            <a:avLst/>
          </a:prstGeom>
          <a:noFill/>
          <a:ln/>
        </p:spPr>
        <p:txBody>
          <a:bodyPr wrap="square" lIns="0" tIns="0" rIns="0" bIns="0" rtlCol="0" anchor="ctr"/>
          <a:lstStyle/>
          <a:p>
            <a:pPr indent="0" marL="0">
              <a:lnSpc>
                <a:spcPts val="1600"/>
              </a:lnSpc>
              <a:buNone/>
            </a:pPr>
            <a:r>
              <a:rPr lang="en-US" sz="1200" dirty="0">
                <a:solidFill>
                  <a:srgbClr val="D8D2C8"/>
                </a:solidFill>
                <a:latin typeface="Calibri" pitchFamily="34" charset="0"/>
                <a:ea typeface="Calibri" pitchFamily="34" charset="-122"/>
                <a:cs typeface="Calibri" pitchFamily="34" charset="-120"/>
              </a:rPr>
              <a:t>Data, templates and schema. The single source of truth for every fact.</a:t>
            </a:r>
            <a:endParaRPr lang="en-US" sz="1200" dirty="0"/>
          </a:p>
        </p:txBody>
      </p:sp>
      <p:sp>
        <p:nvSpPr>
          <p:cNvPr id="15" name="Text 11"/>
          <p:cNvSpPr/>
          <p:nvPr/>
        </p:nvSpPr>
        <p:spPr>
          <a:xfrm>
            <a:off x="5916168" y="3063240"/>
            <a:ext cx="374904" cy="548640"/>
          </a:xfrm>
          <a:prstGeom prst="rect">
            <a:avLst/>
          </a:prstGeom>
          <a:noFill/>
          <a:ln/>
        </p:spPr>
        <p:txBody>
          <a:bodyPr wrap="square" lIns="0" tIns="0" rIns="0" bIns="0" rtlCol="0" anchor="ctr"/>
          <a:lstStyle/>
          <a:p>
            <a:pPr algn="ctr" indent="0" marL="0">
              <a:buNone/>
            </a:pPr>
            <a:r>
              <a:rPr lang="en-US" sz="2200" dirty="0">
                <a:solidFill>
                  <a:srgbClr val="A97E48"/>
                </a:solidFill>
                <a:latin typeface="Calibri" pitchFamily="34" charset="0"/>
                <a:ea typeface="Calibri" pitchFamily="34" charset="-122"/>
                <a:cs typeface="Calibri" pitchFamily="34" charset="-120"/>
              </a:rPr>
              <a:t>→</a:t>
            </a:r>
            <a:endParaRPr lang="en-US" sz="2200" dirty="0"/>
          </a:p>
        </p:txBody>
      </p:sp>
      <p:sp>
        <p:nvSpPr>
          <p:cNvPr id="16" name="Shape 12"/>
          <p:cNvSpPr/>
          <p:nvPr/>
        </p:nvSpPr>
        <p:spPr>
          <a:xfrm>
            <a:off x="6254496" y="2011680"/>
            <a:ext cx="2395728" cy="2651760"/>
          </a:xfrm>
          <a:prstGeom prst="roundRect">
            <a:avLst>
              <a:gd name="adj" fmla="val 3053"/>
            </a:avLst>
          </a:prstGeom>
          <a:solidFill>
            <a:srgbClr val="363029"/>
          </a:solidFill>
          <a:ln w="12700">
            <a:solidFill>
              <a:srgbClr val="A97E48"/>
            </a:solidFill>
            <a:prstDash val="solid"/>
          </a:ln>
        </p:spPr>
      </p:sp>
      <p:sp>
        <p:nvSpPr>
          <p:cNvPr id="17" name="Shape 13"/>
          <p:cNvSpPr/>
          <p:nvPr/>
        </p:nvSpPr>
        <p:spPr>
          <a:xfrm>
            <a:off x="6528816" y="2286000"/>
            <a:ext cx="685800" cy="685800"/>
          </a:xfrm>
          <a:prstGeom prst="ellipse">
            <a:avLst/>
          </a:prstGeom>
          <a:solidFill>
            <a:srgbClr val="A97E48"/>
          </a:solidFill>
          <a:ln/>
        </p:spPr>
      </p:sp>
      <p:pic>
        <p:nvPicPr>
          <p:cNvPr id="18" name="Image 2" descr="preencoded.png">    </p:cNvPr>
          <p:cNvPicPr>
            <a:picLocks noChangeAspect="1"/>
          </p:cNvPicPr>
          <p:nvPr/>
        </p:nvPicPr>
        <p:blipFill>
          <a:blip r:embed="rId3"/>
          <a:stretch>
            <a:fillRect/>
          </a:stretch>
        </p:blipFill>
        <p:spPr>
          <a:xfrm>
            <a:off x="6713982" y="2471166"/>
            <a:ext cx="315468" cy="315468"/>
          </a:xfrm>
          <a:prstGeom prst="rect">
            <a:avLst/>
          </a:prstGeom>
        </p:spPr>
      </p:pic>
      <p:sp>
        <p:nvSpPr>
          <p:cNvPr id="19" name="Text 14"/>
          <p:cNvSpPr/>
          <p:nvPr/>
        </p:nvSpPr>
        <p:spPr>
          <a:xfrm>
            <a:off x="6528816" y="3108960"/>
            <a:ext cx="1847088" cy="41148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CI gate</a:t>
            </a:r>
            <a:endParaRPr lang="en-US" sz="1700" dirty="0"/>
          </a:p>
        </p:txBody>
      </p:sp>
      <p:sp>
        <p:nvSpPr>
          <p:cNvPr id="20" name="Text 15"/>
          <p:cNvSpPr/>
          <p:nvPr/>
        </p:nvSpPr>
        <p:spPr>
          <a:xfrm>
            <a:off x="6528816" y="3547872"/>
            <a:ext cx="1847088" cy="1005840"/>
          </a:xfrm>
          <a:prstGeom prst="rect">
            <a:avLst/>
          </a:prstGeom>
          <a:noFill/>
          <a:ln/>
        </p:spPr>
        <p:txBody>
          <a:bodyPr wrap="square" lIns="0" tIns="0" rIns="0" bIns="0" rtlCol="0" anchor="ctr"/>
          <a:lstStyle/>
          <a:p>
            <a:pPr indent="0" marL="0">
              <a:lnSpc>
                <a:spcPts val="1600"/>
              </a:lnSpc>
              <a:buNone/>
            </a:pPr>
            <a:r>
              <a:rPr lang="en-US" sz="1200" dirty="0">
                <a:solidFill>
                  <a:srgbClr val="D8D2C8"/>
                </a:solidFill>
                <a:latin typeface="Calibri" pitchFamily="34" charset="0"/>
                <a:ea typeface="Calibri" pitchFamily="34" charset="-122"/>
                <a:cs typeface="Calibri" pitchFamily="34" charset="-120"/>
              </a:rPr>
              <a:t>seo:validate blocks any merge that reintroduces a known failure.</a:t>
            </a:r>
            <a:endParaRPr lang="en-US" sz="1200" dirty="0"/>
          </a:p>
        </p:txBody>
      </p:sp>
      <p:sp>
        <p:nvSpPr>
          <p:cNvPr id="21" name="Text 16"/>
          <p:cNvSpPr/>
          <p:nvPr/>
        </p:nvSpPr>
        <p:spPr>
          <a:xfrm>
            <a:off x="8631936" y="3063240"/>
            <a:ext cx="374904" cy="548640"/>
          </a:xfrm>
          <a:prstGeom prst="rect">
            <a:avLst/>
          </a:prstGeom>
          <a:noFill/>
          <a:ln/>
        </p:spPr>
        <p:txBody>
          <a:bodyPr wrap="square" lIns="0" tIns="0" rIns="0" bIns="0" rtlCol="0" anchor="ctr"/>
          <a:lstStyle/>
          <a:p>
            <a:pPr algn="ctr" indent="0" marL="0">
              <a:buNone/>
            </a:pPr>
            <a:r>
              <a:rPr lang="en-US" sz="2200" dirty="0">
                <a:solidFill>
                  <a:srgbClr val="A97E48"/>
                </a:solidFill>
                <a:latin typeface="Calibri" pitchFamily="34" charset="0"/>
                <a:ea typeface="Calibri" pitchFamily="34" charset="-122"/>
                <a:cs typeface="Calibri" pitchFamily="34" charset="-120"/>
              </a:rPr>
              <a:t>→</a:t>
            </a:r>
            <a:endParaRPr lang="en-US" sz="2200" dirty="0"/>
          </a:p>
        </p:txBody>
      </p:sp>
      <p:sp>
        <p:nvSpPr>
          <p:cNvPr id="22" name="Shape 17"/>
          <p:cNvSpPr/>
          <p:nvPr/>
        </p:nvSpPr>
        <p:spPr>
          <a:xfrm>
            <a:off x="8970264" y="2011680"/>
            <a:ext cx="2395728" cy="2651760"/>
          </a:xfrm>
          <a:prstGeom prst="roundRect">
            <a:avLst>
              <a:gd name="adj" fmla="val 3053"/>
            </a:avLst>
          </a:prstGeom>
          <a:solidFill>
            <a:srgbClr val="363029"/>
          </a:solidFill>
          <a:ln w="12700">
            <a:solidFill>
              <a:srgbClr val="A97E48"/>
            </a:solidFill>
            <a:prstDash val="solid"/>
          </a:ln>
        </p:spPr>
      </p:sp>
      <p:sp>
        <p:nvSpPr>
          <p:cNvPr id="23" name="Shape 18"/>
          <p:cNvSpPr/>
          <p:nvPr/>
        </p:nvSpPr>
        <p:spPr>
          <a:xfrm>
            <a:off x="9244584" y="2286000"/>
            <a:ext cx="685800" cy="685800"/>
          </a:xfrm>
          <a:prstGeom prst="ellipse">
            <a:avLst/>
          </a:prstGeom>
          <a:solidFill>
            <a:srgbClr val="A97E48"/>
          </a:solidFill>
          <a:ln/>
        </p:spPr>
      </p:sp>
      <p:pic>
        <p:nvPicPr>
          <p:cNvPr id="24" name="Image 3" descr="preencoded.png">    </p:cNvPr>
          <p:cNvPicPr>
            <a:picLocks noChangeAspect="1"/>
          </p:cNvPicPr>
          <p:nvPr/>
        </p:nvPicPr>
        <p:blipFill>
          <a:blip r:embed="rId4"/>
          <a:stretch>
            <a:fillRect/>
          </a:stretch>
        </p:blipFill>
        <p:spPr>
          <a:xfrm>
            <a:off x="9429750" y="2471166"/>
            <a:ext cx="315468" cy="315468"/>
          </a:xfrm>
          <a:prstGeom prst="rect">
            <a:avLst/>
          </a:prstGeom>
        </p:spPr>
      </p:pic>
      <p:sp>
        <p:nvSpPr>
          <p:cNvPr id="25" name="Text 19"/>
          <p:cNvSpPr/>
          <p:nvPr/>
        </p:nvSpPr>
        <p:spPr>
          <a:xfrm>
            <a:off x="9244584" y="3108960"/>
            <a:ext cx="1847088" cy="41148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Duda REST API</a:t>
            </a:r>
            <a:endParaRPr lang="en-US" sz="1700" dirty="0"/>
          </a:p>
        </p:txBody>
      </p:sp>
      <p:sp>
        <p:nvSpPr>
          <p:cNvPr id="26" name="Text 20"/>
          <p:cNvSpPr/>
          <p:nvPr/>
        </p:nvSpPr>
        <p:spPr>
          <a:xfrm>
            <a:off x="9244584" y="3547872"/>
            <a:ext cx="1847088" cy="1005840"/>
          </a:xfrm>
          <a:prstGeom prst="rect">
            <a:avLst/>
          </a:prstGeom>
          <a:noFill/>
          <a:ln/>
        </p:spPr>
        <p:txBody>
          <a:bodyPr wrap="square" lIns="0" tIns="0" rIns="0" bIns="0" rtlCol="0" anchor="ctr"/>
          <a:lstStyle/>
          <a:p>
            <a:pPr indent="0" marL="0">
              <a:lnSpc>
                <a:spcPts val="1600"/>
              </a:lnSpc>
              <a:buNone/>
            </a:pPr>
            <a:r>
              <a:rPr lang="en-US" sz="1200" dirty="0">
                <a:solidFill>
                  <a:srgbClr val="D8D2C8"/>
                </a:solidFill>
                <a:latin typeface="Calibri" pitchFamily="34" charset="0"/>
                <a:ea typeface="Calibri" pitchFamily="34" charset="-122"/>
                <a:cs typeface="Calibri" pitchFamily="34" charset="-120"/>
              </a:rPr>
              <a:t>Dry run diff, push to draft, inject schema sitewide, publish.</a:t>
            </a:r>
            <a:endParaRPr lang="en-US" sz="1200" dirty="0"/>
          </a:p>
        </p:txBody>
      </p:sp>
      <p:sp>
        <p:nvSpPr>
          <p:cNvPr id="27" name="Text 21"/>
          <p:cNvSpPr/>
          <p:nvPr/>
        </p:nvSpPr>
        <p:spPr>
          <a:xfrm>
            <a:off x="822960" y="5074920"/>
            <a:ext cx="10515600" cy="914400"/>
          </a:xfrm>
          <a:prstGeom prst="rect">
            <a:avLst/>
          </a:prstGeom>
          <a:noFill/>
          <a:ln/>
        </p:spPr>
        <p:txBody>
          <a:bodyPr wrap="square" lIns="0" tIns="0" rIns="0" bIns="0" rtlCol="0" anchor="ctr"/>
          <a:lstStyle/>
          <a:p>
            <a:pPr indent="0" marL="0">
              <a:lnSpc>
                <a:spcPts val="1900"/>
              </a:lnSpc>
              <a:buNone/>
            </a:pPr>
            <a:r>
              <a:rPr lang="en-US" sz="1400" b="1" dirty="0">
                <a:solidFill>
                  <a:srgbClr val="FFFFFF"/>
                </a:solidFill>
                <a:latin typeface="Calibri" pitchFamily="34" charset="0"/>
                <a:ea typeface="Calibri" pitchFamily="34" charset="-122"/>
                <a:cs typeface="Calibri" pitchFamily="34" charset="-120"/>
              </a:rPr>
              <a:t>First run against the live site caught all 35 failures, including the blog bug.   </a:t>
            </a:r>
            <a:pPr indent="0" marL="0">
              <a:lnSpc>
                <a:spcPts val="1900"/>
              </a:lnSpc>
              <a:buNone/>
            </a:pPr>
            <a:r>
              <a:rPr lang="en-US" sz="1400" dirty="0">
                <a:solidFill>
                  <a:srgbClr val="D8D2C8"/>
                </a:solidFill>
                <a:latin typeface="Calibri" pitchFamily="34" charset="0"/>
                <a:ea typeface="Calibri" pitchFamily="34" charset="-122"/>
                <a:cs typeface="Calibri" pitchFamily="34" charset="-120"/>
              </a:rPr>
              <a:t>The fix payload for 17 pages is staged and ready to push the day API access lands. Zero dependencies; runs on any Node machine.</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02920"/>
            <a:ext cx="10515600" cy="640080"/>
          </a:xfrm>
          <a:prstGeom prst="rect">
            <a:avLst/>
          </a:prstGeom>
          <a:noFill/>
          <a:ln/>
        </p:spPr>
        <p:txBody>
          <a:bodyPr wrap="square" lIns="0" tIns="0" rIns="0" bIns="0" rtlCol="0" anchor="ctr"/>
          <a:lstStyle/>
          <a:p>
            <a:pPr indent="0" marL="0">
              <a:buNone/>
            </a:pPr>
            <a:r>
              <a:rPr lang="en-US" sz="3600" b="1" dirty="0">
                <a:solidFill>
                  <a:srgbClr val="26221E"/>
                </a:solidFill>
                <a:latin typeface="Cambria" pitchFamily="34" charset="0"/>
                <a:ea typeface="Cambria" pitchFamily="34" charset="-122"/>
                <a:cs typeface="Cambria" pitchFamily="34" charset="-120"/>
              </a:rPr>
              <a:t>Week one: seven fixes, same day</a:t>
            </a:r>
            <a:endParaRPr lang="en-US" sz="3600" dirty="0"/>
          </a:p>
        </p:txBody>
      </p:sp>
      <p:sp>
        <p:nvSpPr>
          <p:cNvPr id="3" name="Text 1"/>
          <p:cNvSpPr/>
          <p:nvPr/>
        </p:nvSpPr>
        <p:spPr>
          <a:xfrm>
            <a:off x="822960" y="1234440"/>
            <a:ext cx="9875520" cy="457200"/>
          </a:xfrm>
          <a:prstGeom prst="rect">
            <a:avLst/>
          </a:prstGeom>
          <a:noFill/>
          <a:ln/>
        </p:spPr>
        <p:txBody>
          <a:bodyPr wrap="square" lIns="0" tIns="0" rIns="0" bIns="0" rtlCol="0" anchor="ctr"/>
          <a:lstStyle/>
          <a:p>
            <a:pPr indent="0" marL="0">
              <a:buNone/>
            </a:pPr>
            <a:r>
              <a:rPr lang="en-US" sz="1500" dirty="0">
                <a:solidFill>
                  <a:srgbClr val="6E675E"/>
                </a:solidFill>
                <a:latin typeface="Calibri" pitchFamily="34" charset="0"/>
                <a:ea typeface="Calibri" pitchFamily="34" charset="-122"/>
                <a:cs typeface="Calibri" pitchFamily="34" charset="-120"/>
              </a:rPr>
              <a:t>No design cycle, no copywriting cycle. The metadata payload is already written and reviewed.</a:t>
            </a:r>
            <a:endParaRPr lang="en-US" sz="1500" dirty="0"/>
          </a:p>
        </p:txBody>
      </p:sp>
      <p:sp>
        <p:nvSpPr>
          <p:cNvPr id="4" name="Shape 2"/>
          <p:cNvSpPr/>
          <p:nvPr/>
        </p:nvSpPr>
        <p:spPr>
          <a:xfrm>
            <a:off x="822960" y="2057400"/>
            <a:ext cx="566928" cy="566928"/>
          </a:xfrm>
          <a:prstGeom prst="ellipse">
            <a:avLst/>
          </a:prstGeom>
          <a:solidFill>
            <a:srgbClr val="8A6335"/>
          </a:solidFill>
          <a:ln/>
        </p:spPr>
      </p:sp>
      <p:sp>
        <p:nvSpPr>
          <p:cNvPr id="5" name="Text 3"/>
          <p:cNvSpPr/>
          <p:nvPr/>
        </p:nvSpPr>
        <p:spPr>
          <a:xfrm>
            <a:off x="822960" y="2057400"/>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6" name="Text 4"/>
          <p:cNvSpPr/>
          <p:nvPr/>
        </p:nvSpPr>
        <p:spPr>
          <a:xfrm>
            <a:off x="1600200" y="1947672"/>
            <a:ext cx="4480560" cy="868680"/>
          </a:xfrm>
          <a:prstGeom prst="rect">
            <a:avLst/>
          </a:prstGeom>
          <a:noFill/>
          <a:ln/>
        </p:spPr>
        <p:txBody>
          <a:bodyPr wrap="square" lIns="0" tIns="0" rIns="0" bIns="0" rtlCol="0" anchor="t"/>
          <a:lstStyle/>
          <a:p>
            <a:pPr indent="0" marL="0">
              <a:lnSpc>
                <a:spcPts val="1700"/>
              </a:lnSpc>
              <a:buNone/>
            </a:pPr>
            <a:r>
              <a:rPr lang="en-US" sz="1350" dirty="0">
                <a:solidFill>
                  <a:srgbClr val="26221E"/>
                </a:solidFill>
                <a:latin typeface="Calibri" pitchFamily="34" charset="0"/>
                <a:ea typeface="Calibri" pitchFamily="34" charset="-122"/>
                <a:cs typeface="Calibri" pitchFamily="34" charset="-120"/>
              </a:rPr>
              <a:t>Fix the blog title and description (currently the careers page metadata)</a:t>
            </a:r>
            <a:endParaRPr lang="en-US" sz="1350" dirty="0"/>
          </a:p>
        </p:txBody>
      </p:sp>
      <p:sp>
        <p:nvSpPr>
          <p:cNvPr id="7" name="Shape 5"/>
          <p:cNvSpPr/>
          <p:nvPr/>
        </p:nvSpPr>
        <p:spPr>
          <a:xfrm>
            <a:off x="822960" y="3017520"/>
            <a:ext cx="566928" cy="566928"/>
          </a:xfrm>
          <a:prstGeom prst="ellipse">
            <a:avLst/>
          </a:prstGeom>
          <a:solidFill>
            <a:srgbClr val="8A6335"/>
          </a:solidFill>
          <a:ln/>
        </p:spPr>
      </p:sp>
      <p:sp>
        <p:nvSpPr>
          <p:cNvPr id="8" name="Text 6"/>
          <p:cNvSpPr/>
          <p:nvPr/>
        </p:nvSpPr>
        <p:spPr>
          <a:xfrm>
            <a:off x="822960" y="3017520"/>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9" name="Text 7"/>
          <p:cNvSpPr/>
          <p:nvPr/>
        </p:nvSpPr>
        <p:spPr>
          <a:xfrm>
            <a:off x="1600200" y="2907792"/>
            <a:ext cx="4480560" cy="868680"/>
          </a:xfrm>
          <a:prstGeom prst="rect">
            <a:avLst/>
          </a:prstGeom>
          <a:noFill/>
          <a:ln/>
        </p:spPr>
        <p:txBody>
          <a:bodyPr wrap="square" lIns="0" tIns="0" rIns="0" bIns="0" rtlCol="0" anchor="t"/>
          <a:lstStyle/>
          <a:p>
            <a:pPr indent="0" marL="0">
              <a:lnSpc>
                <a:spcPts val="1700"/>
              </a:lnSpc>
              <a:buNone/>
            </a:pPr>
            <a:r>
              <a:rPr lang="en-US" sz="1350" dirty="0">
                <a:solidFill>
                  <a:srgbClr val="26221E"/>
                </a:solidFill>
                <a:latin typeface="Calibri" pitchFamily="34" charset="0"/>
                <a:ea typeface="Calibri" pitchFamily="34" charset="-122"/>
                <a:cs typeface="Calibri" pitchFamily="34" charset="-120"/>
              </a:rPr>
              <a:t>Rewrite the homepage title to carry service and geography</a:t>
            </a:r>
            <a:endParaRPr lang="en-US" sz="1350" dirty="0"/>
          </a:p>
        </p:txBody>
      </p:sp>
      <p:sp>
        <p:nvSpPr>
          <p:cNvPr id="10" name="Shape 8"/>
          <p:cNvSpPr/>
          <p:nvPr/>
        </p:nvSpPr>
        <p:spPr>
          <a:xfrm>
            <a:off x="822960" y="3977640"/>
            <a:ext cx="566928" cy="566928"/>
          </a:xfrm>
          <a:prstGeom prst="ellipse">
            <a:avLst/>
          </a:prstGeom>
          <a:solidFill>
            <a:srgbClr val="8A6335"/>
          </a:solidFill>
          <a:ln/>
        </p:spPr>
      </p:sp>
      <p:sp>
        <p:nvSpPr>
          <p:cNvPr id="11" name="Text 9"/>
          <p:cNvSpPr/>
          <p:nvPr/>
        </p:nvSpPr>
        <p:spPr>
          <a:xfrm>
            <a:off x="822960" y="3977640"/>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2" name="Text 10"/>
          <p:cNvSpPr/>
          <p:nvPr/>
        </p:nvSpPr>
        <p:spPr>
          <a:xfrm>
            <a:off x="1600200" y="3867912"/>
            <a:ext cx="4480560" cy="868680"/>
          </a:xfrm>
          <a:prstGeom prst="rect">
            <a:avLst/>
          </a:prstGeom>
          <a:noFill/>
          <a:ln/>
        </p:spPr>
        <p:txBody>
          <a:bodyPr wrap="square" lIns="0" tIns="0" rIns="0" bIns="0" rtlCol="0" anchor="t"/>
          <a:lstStyle/>
          <a:p>
            <a:pPr indent="0" marL="0">
              <a:lnSpc>
                <a:spcPts val="1700"/>
              </a:lnSpc>
              <a:buNone/>
            </a:pPr>
            <a:r>
              <a:rPr lang="en-US" sz="1350" dirty="0">
                <a:solidFill>
                  <a:srgbClr val="26221E"/>
                </a:solidFill>
                <a:latin typeface="Calibri" pitchFamily="34" charset="0"/>
                <a:ea typeface="Calibri" pitchFamily="34" charset="-122"/>
                <a:cs typeface="Calibri" pitchFamily="34" charset="-120"/>
              </a:rPr>
              <a:t>Publish the full name, address and phone with a map on the contact page</a:t>
            </a:r>
            <a:endParaRPr lang="en-US" sz="1350" dirty="0"/>
          </a:p>
        </p:txBody>
      </p:sp>
      <p:sp>
        <p:nvSpPr>
          <p:cNvPr id="13" name="Shape 11"/>
          <p:cNvSpPr/>
          <p:nvPr/>
        </p:nvSpPr>
        <p:spPr>
          <a:xfrm>
            <a:off x="822960" y="4937760"/>
            <a:ext cx="566928" cy="566928"/>
          </a:xfrm>
          <a:prstGeom prst="ellipse">
            <a:avLst/>
          </a:prstGeom>
          <a:solidFill>
            <a:srgbClr val="8A6335"/>
          </a:solidFill>
          <a:ln/>
        </p:spPr>
      </p:sp>
      <p:sp>
        <p:nvSpPr>
          <p:cNvPr id="14" name="Text 12"/>
          <p:cNvSpPr/>
          <p:nvPr/>
        </p:nvSpPr>
        <p:spPr>
          <a:xfrm>
            <a:off x="822960" y="4937760"/>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15" name="Text 13"/>
          <p:cNvSpPr/>
          <p:nvPr/>
        </p:nvSpPr>
        <p:spPr>
          <a:xfrm>
            <a:off x="1600200" y="4828032"/>
            <a:ext cx="4480560" cy="868680"/>
          </a:xfrm>
          <a:prstGeom prst="rect">
            <a:avLst/>
          </a:prstGeom>
          <a:noFill/>
          <a:ln/>
        </p:spPr>
        <p:txBody>
          <a:bodyPr wrap="square" lIns="0" tIns="0" rIns="0" bIns="0" rtlCol="0" anchor="t"/>
          <a:lstStyle/>
          <a:p>
            <a:pPr indent="0" marL="0">
              <a:lnSpc>
                <a:spcPts val="1700"/>
              </a:lnSpc>
              <a:buNone/>
            </a:pPr>
            <a:r>
              <a:rPr lang="en-US" sz="1350" dirty="0">
                <a:solidFill>
                  <a:srgbClr val="26221E"/>
                </a:solidFill>
                <a:latin typeface="Calibri" pitchFamily="34" charset="0"/>
                <a:ea typeface="Calibri" pitchFamily="34" charset="-122"/>
                <a:cs typeface="Calibri" pitchFamily="34" charset="-120"/>
              </a:rPr>
              <a:t>Deploy GeneralContractor schema carrying CSLB 1056036 and the service area</a:t>
            </a:r>
            <a:endParaRPr lang="en-US" sz="1350" dirty="0"/>
          </a:p>
        </p:txBody>
      </p:sp>
      <p:sp>
        <p:nvSpPr>
          <p:cNvPr id="16" name="Shape 14"/>
          <p:cNvSpPr/>
          <p:nvPr/>
        </p:nvSpPr>
        <p:spPr>
          <a:xfrm>
            <a:off x="6263640" y="2057400"/>
            <a:ext cx="566928" cy="566928"/>
          </a:xfrm>
          <a:prstGeom prst="ellipse">
            <a:avLst/>
          </a:prstGeom>
          <a:solidFill>
            <a:srgbClr val="8A6335"/>
          </a:solidFill>
          <a:ln/>
        </p:spPr>
      </p:sp>
      <p:sp>
        <p:nvSpPr>
          <p:cNvPr id="17" name="Text 15"/>
          <p:cNvSpPr/>
          <p:nvPr/>
        </p:nvSpPr>
        <p:spPr>
          <a:xfrm>
            <a:off x="6263640" y="2057400"/>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5</a:t>
            </a:r>
            <a:endParaRPr lang="en-US" sz="1800" dirty="0"/>
          </a:p>
        </p:txBody>
      </p:sp>
      <p:sp>
        <p:nvSpPr>
          <p:cNvPr id="18" name="Text 16"/>
          <p:cNvSpPr/>
          <p:nvPr/>
        </p:nvSpPr>
        <p:spPr>
          <a:xfrm>
            <a:off x="7040880" y="1947672"/>
            <a:ext cx="4480560" cy="868680"/>
          </a:xfrm>
          <a:prstGeom prst="rect">
            <a:avLst/>
          </a:prstGeom>
          <a:noFill/>
          <a:ln/>
        </p:spPr>
        <p:txBody>
          <a:bodyPr wrap="square" lIns="0" tIns="0" rIns="0" bIns="0" rtlCol="0" anchor="t"/>
          <a:lstStyle/>
          <a:p>
            <a:pPr indent="0" marL="0">
              <a:lnSpc>
                <a:spcPts val="1700"/>
              </a:lnSpc>
              <a:buNone/>
            </a:pPr>
            <a:r>
              <a:rPr lang="en-US" sz="1350" dirty="0">
                <a:solidFill>
                  <a:srgbClr val="26221E"/>
                </a:solidFill>
                <a:latin typeface="Calibri" pitchFamily="34" charset="0"/>
                <a:ea typeface="Calibri" pitchFamily="34" charset="-122"/>
                <a:cs typeface="Calibri" pitchFamily="34" charset="-120"/>
              </a:rPr>
              <a:t>Set og:image to a real project photo; switch twitter card to large image</a:t>
            </a:r>
            <a:endParaRPr lang="en-US" sz="1350" dirty="0"/>
          </a:p>
        </p:txBody>
      </p:sp>
      <p:sp>
        <p:nvSpPr>
          <p:cNvPr id="19" name="Shape 17"/>
          <p:cNvSpPr/>
          <p:nvPr/>
        </p:nvSpPr>
        <p:spPr>
          <a:xfrm>
            <a:off x="6263640" y="3017520"/>
            <a:ext cx="566928" cy="566928"/>
          </a:xfrm>
          <a:prstGeom prst="ellipse">
            <a:avLst/>
          </a:prstGeom>
          <a:solidFill>
            <a:srgbClr val="8A6335"/>
          </a:solidFill>
          <a:ln/>
        </p:spPr>
      </p:sp>
      <p:sp>
        <p:nvSpPr>
          <p:cNvPr id="20" name="Text 18"/>
          <p:cNvSpPr/>
          <p:nvPr/>
        </p:nvSpPr>
        <p:spPr>
          <a:xfrm>
            <a:off x="6263640" y="3017520"/>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6</a:t>
            </a:r>
            <a:endParaRPr lang="en-US" sz="1800" dirty="0"/>
          </a:p>
        </p:txBody>
      </p:sp>
      <p:sp>
        <p:nvSpPr>
          <p:cNvPr id="21" name="Text 19"/>
          <p:cNvSpPr/>
          <p:nvPr/>
        </p:nvSpPr>
        <p:spPr>
          <a:xfrm>
            <a:off x="7040880" y="2907792"/>
            <a:ext cx="4480560" cy="868680"/>
          </a:xfrm>
          <a:prstGeom prst="rect">
            <a:avLst/>
          </a:prstGeom>
          <a:noFill/>
          <a:ln/>
        </p:spPr>
        <p:txBody>
          <a:bodyPr wrap="square" lIns="0" tIns="0" rIns="0" bIns="0" rtlCol="0" anchor="t"/>
          <a:lstStyle/>
          <a:p>
            <a:pPr indent="0" marL="0">
              <a:lnSpc>
                <a:spcPts val="1700"/>
              </a:lnSpc>
              <a:buNone/>
            </a:pPr>
            <a:r>
              <a:rPr lang="en-US" sz="1350" dirty="0">
                <a:solidFill>
                  <a:srgbClr val="26221E"/>
                </a:solidFill>
                <a:latin typeface="Calibri" pitchFamily="34" charset="0"/>
                <a:ea typeface="Calibri" pitchFamily="34" charset="-122"/>
                <a:cs typeface="Calibri" pitchFamily="34" charset="-120"/>
              </a:rPr>
              <a:t>Add the blog, the only working SEO asset, to the main navigation</a:t>
            </a:r>
            <a:endParaRPr lang="en-US" sz="1350" dirty="0"/>
          </a:p>
        </p:txBody>
      </p:sp>
      <p:sp>
        <p:nvSpPr>
          <p:cNvPr id="22" name="Shape 20"/>
          <p:cNvSpPr/>
          <p:nvPr/>
        </p:nvSpPr>
        <p:spPr>
          <a:xfrm>
            <a:off x="6263640" y="3977640"/>
            <a:ext cx="566928" cy="566928"/>
          </a:xfrm>
          <a:prstGeom prst="ellipse">
            <a:avLst/>
          </a:prstGeom>
          <a:solidFill>
            <a:srgbClr val="8A6335"/>
          </a:solidFill>
          <a:ln/>
        </p:spPr>
      </p:sp>
      <p:sp>
        <p:nvSpPr>
          <p:cNvPr id="23" name="Text 21"/>
          <p:cNvSpPr/>
          <p:nvPr/>
        </p:nvSpPr>
        <p:spPr>
          <a:xfrm>
            <a:off x="6263640" y="3977640"/>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7</a:t>
            </a:r>
            <a:endParaRPr lang="en-US" sz="1800" dirty="0"/>
          </a:p>
        </p:txBody>
      </p:sp>
      <p:sp>
        <p:nvSpPr>
          <p:cNvPr id="24" name="Text 22"/>
          <p:cNvSpPr/>
          <p:nvPr/>
        </p:nvSpPr>
        <p:spPr>
          <a:xfrm>
            <a:off x="7040880" y="3867912"/>
            <a:ext cx="4480560" cy="868680"/>
          </a:xfrm>
          <a:prstGeom prst="rect">
            <a:avLst/>
          </a:prstGeom>
          <a:noFill/>
          <a:ln/>
        </p:spPr>
        <p:txBody>
          <a:bodyPr wrap="square" lIns="0" tIns="0" rIns="0" bIns="0" rtlCol="0" anchor="t"/>
          <a:lstStyle/>
          <a:p>
            <a:pPr indent="0" marL="0">
              <a:lnSpc>
                <a:spcPts val="1700"/>
              </a:lnSpc>
              <a:buNone/>
            </a:pPr>
            <a:r>
              <a:rPr lang="en-US" sz="1350" dirty="0">
                <a:solidFill>
                  <a:srgbClr val="26221E"/>
                </a:solidFill>
                <a:latin typeface="Calibri" pitchFamily="34" charset="0"/>
                <a:ea typeface="Calibri" pitchFamily="34" charset="-122"/>
                <a:cs typeface="Calibri" pitchFamily="34" charset="-120"/>
              </a:rPr>
              <a:t>Remove the dead meta keywords tag and redirect the 404 construction URL</a:t>
            </a:r>
            <a:endParaRPr lang="en-US" sz="1350" dirty="0"/>
          </a:p>
        </p:txBody>
      </p:sp>
      <p:sp>
        <p:nvSpPr>
          <p:cNvPr id="25" name="Shape 23"/>
          <p:cNvSpPr/>
          <p:nvPr/>
        </p:nvSpPr>
        <p:spPr>
          <a:xfrm>
            <a:off x="6263640" y="4892040"/>
            <a:ext cx="5102352" cy="1234440"/>
          </a:xfrm>
          <a:prstGeom prst="roundRect">
            <a:avLst>
              <a:gd name="adj" fmla="val 5926"/>
            </a:avLst>
          </a:prstGeom>
          <a:solidFill>
            <a:srgbClr val="F3EDE3"/>
          </a:solidFill>
          <a:ln/>
        </p:spPr>
      </p:sp>
      <p:sp>
        <p:nvSpPr>
          <p:cNvPr id="26" name="Text 24"/>
          <p:cNvSpPr/>
          <p:nvPr/>
        </p:nvSpPr>
        <p:spPr>
          <a:xfrm>
            <a:off x="6537960" y="5074920"/>
            <a:ext cx="4572000" cy="914400"/>
          </a:xfrm>
          <a:prstGeom prst="rect">
            <a:avLst/>
          </a:prstGeom>
          <a:noFill/>
          <a:ln/>
        </p:spPr>
        <p:txBody>
          <a:bodyPr wrap="square" lIns="0" tIns="0" rIns="0" bIns="0" rtlCol="0" anchor="ctr"/>
          <a:lstStyle/>
          <a:p>
            <a:pPr indent="0" marL="0">
              <a:lnSpc>
                <a:spcPts val="1700"/>
              </a:lnSpc>
              <a:buNone/>
            </a:pPr>
            <a:r>
              <a:rPr lang="en-US" sz="1300" b="1" dirty="0">
                <a:solidFill>
                  <a:srgbClr val="8A6335"/>
                </a:solidFill>
                <a:latin typeface="Calibri" pitchFamily="34" charset="0"/>
                <a:ea typeface="Calibri" pitchFamily="34" charset="-122"/>
                <a:cs typeface="Calibri" pitchFamily="34" charset="-120"/>
              </a:rPr>
              <a:t>Already staged:  </a:t>
            </a:r>
            <a:pPr indent="0" marL="0">
              <a:lnSpc>
                <a:spcPts val="1700"/>
              </a:lnSpc>
              <a:buNone/>
            </a:pPr>
            <a:r>
              <a:rPr lang="en-US" sz="1300" dirty="0">
                <a:solidFill>
                  <a:srgbClr val="26221E"/>
                </a:solidFill>
                <a:latin typeface="Calibri" pitchFamily="34" charset="0"/>
                <a:ea typeface="Calibri" pitchFamily="34" charset="-122"/>
                <a:cs typeface="Calibri" pitchFamily="34" charset="-120"/>
              </a:rPr>
              <a:t>rewritten titles and descriptions for all 17 defective pages, validated against the same gate CI runs.</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02920"/>
            <a:ext cx="10515600" cy="640080"/>
          </a:xfrm>
          <a:prstGeom prst="rect">
            <a:avLst/>
          </a:prstGeom>
          <a:noFill/>
          <a:ln/>
        </p:spPr>
        <p:txBody>
          <a:bodyPr wrap="square" lIns="0" tIns="0" rIns="0" bIns="0" rtlCol="0" anchor="ctr"/>
          <a:lstStyle/>
          <a:p>
            <a:pPr indent="0" marL="0">
              <a:buNone/>
            </a:pPr>
            <a:r>
              <a:rPr lang="en-US" sz="3600" b="1" dirty="0">
                <a:solidFill>
                  <a:srgbClr val="26221E"/>
                </a:solidFill>
                <a:latin typeface="Cambria" pitchFamily="34" charset="0"/>
                <a:ea typeface="Cambria" pitchFamily="34" charset="-122"/>
                <a:cs typeface="Cambria" pitchFamily="34" charset="-120"/>
              </a:rPr>
              <a:t>The 90 days</a:t>
            </a:r>
            <a:endParaRPr lang="en-US" sz="3600" dirty="0"/>
          </a:p>
        </p:txBody>
      </p:sp>
      <p:sp>
        <p:nvSpPr>
          <p:cNvPr id="3" name="Shape 1"/>
          <p:cNvSpPr/>
          <p:nvPr/>
        </p:nvSpPr>
        <p:spPr>
          <a:xfrm>
            <a:off x="822960" y="1417320"/>
            <a:ext cx="3392424" cy="4892040"/>
          </a:xfrm>
          <a:prstGeom prst="roundRect">
            <a:avLst>
              <a:gd name="adj" fmla="val 2156"/>
            </a:avLst>
          </a:prstGeom>
          <a:solidFill>
            <a:srgbClr val="F3EDE3"/>
          </a:solidFill>
          <a:ln/>
        </p:spPr>
      </p:sp>
      <p:sp>
        <p:nvSpPr>
          <p:cNvPr id="4" name="Text 2"/>
          <p:cNvSpPr/>
          <p:nvPr/>
        </p:nvSpPr>
        <p:spPr>
          <a:xfrm>
            <a:off x="1115568" y="1691640"/>
            <a:ext cx="2807208" cy="320040"/>
          </a:xfrm>
          <a:prstGeom prst="rect">
            <a:avLst/>
          </a:prstGeom>
          <a:noFill/>
          <a:ln/>
        </p:spPr>
        <p:txBody>
          <a:bodyPr wrap="square" lIns="0" tIns="0" rIns="0" bIns="0" rtlCol="0" anchor="ctr"/>
          <a:lstStyle/>
          <a:p>
            <a:pPr indent="0" marL="0">
              <a:buNone/>
            </a:pPr>
            <a:r>
              <a:rPr lang="en-US" sz="1200" b="1" spc="200" kern="0" dirty="0">
                <a:solidFill>
                  <a:srgbClr val="A97E48"/>
                </a:solidFill>
                <a:latin typeface="Calibri" pitchFamily="34" charset="0"/>
                <a:ea typeface="Calibri" pitchFamily="34" charset="-122"/>
                <a:cs typeface="Calibri" pitchFamily="34" charset="-120"/>
              </a:rPr>
              <a:t>DAYS 1 TO 30</a:t>
            </a:r>
            <a:endParaRPr lang="en-US" sz="1200" dirty="0"/>
          </a:p>
        </p:txBody>
      </p:sp>
      <p:sp>
        <p:nvSpPr>
          <p:cNvPr id="5" name="Text 3"/>
          <p:cNvSpPr/>
          <p:nvPr/>
        </p:nvSpPr>
        <p:spPr>
          <a:xfrm>
            <a:off x="1115568" y="2011680"/>
            <a:ext cx="2807208" cy="502920"/>
          </a:xfrm>
          <a:prstGeom prst="rect">
            <a:avLst/>
          </a:prstGeom>
          <a:noFill/>
          <a:ln/>
        </p:spPr>
        <p:txBody>
          <a:bodyPr wrap="square" lIns="0" tIns="0" rIns="0" bIns="0" rtlCol="0" anchor="ctr"/>
          <a:lstStyle/>
          <a:p>
            <a:pPr indent="0" marL="0">
              <a:buNone/>
            </a:pPr>
            <a:r>
              <a:rPr lang="en-US" sz="2100" b="1" dirty="0">
                <a:solidFill>
                  <a:srgbClr val="26221E"/>
                </a:solidFill>
                <a:latin typeface="Cambria" pitchFamily="34" charset="0"/>
                <a:ea typeface="Cambria" pitchFamily="34" charset="-122"/>
                <a:cs typeface="Cambria" pitchFamily="34" charset="-120"/>
              </a:rPr>
              <a:t>Foundation</a:t>
            </a:r>
            <a:endParaRPr lang="en-US" sz="2100" dirty="0"/>
          </a:p>
        </p:txBody>
      </p:sp>
      <p:sp>
        <p:nvSpPr>
          <p:cNvPr id="6" name="Text 4"/>
          <p:cNvSpPr/>
          <p:nvPr/>
        </p:nvSpPr>
        <p:spPr>
          <a:xfrm>
            <a:off x="1115568" y="2651760"/>
            <a:ext cx="2807208" cy="3474720"/>
          </a:xfrm>
          <a:prstGeom prst="rect">
            <a:avLst/>
          </a:prstGeom>
          <a:noFill/>
          <a:ln/>
        </p:spPr>
        <p:txBody>
          <a:bodyPr wrap="square" lIns="0" tIns="0" rIns="0" bIns="0" rtlCol="0" anchor="ctr"/>
          <a:lstStyle/>
          <a:p>
            <a:pPr marL="152400" indent="-152400">
              <a:lnSpc>
                <a:spcPts val="1600"/>
              </a:lnSpc>
              <a:spcAft>
                <a:spcPts val="1000"/>
              </a:spcAft>
              <a:buSzPct val="100000"/>
              <a:buChar char="•"/>
            </a:pPr>
            <a:r>
              <a:rPr lang="en-US" sz="1250" dirty="0">
                <a:solidFill>
                  <a:srgbClr val="6E675E"/>
                </a:solidFill>
                <a:latin typeface="Calibri" pitchFamily="34" charset="0"/>
                <a:ea typeface="Calibri" pitchFamily="34" charset="-122"/>
                <a:cs typeface="Calibri" pitchFamily="34" charset="-120"/>
              </a:rPr>
              <a:t>Verify facts, address and review sources with you</a:t>
            </a:r>
            <a:endParaRPr lang="en-US" sz="1250" dirty="0"/>
          </a:p>
          <a:p>
            <a:pPr marL="152400" indent="-152400">
              <a:lnSpc>
                <a:spcPts val="1600"/>
              </a:lnSpc>
              <a:spcAft>
                <a:spcPts val="1000"/>
              </a:spcAft>
              <a:buSzPct val="100000"/>
              <a:buChar char="•"/>
            </a:pPr>
            <a:r>
              <a:rPr lang="en-US" sz="1250" dirty="0">
                <a:solidFill>
                  <a:srgbClr val="6E675E"/>
                </a:solidFill>
                <a:latin typeface="Calibri" pitchFamily="34" charset="0"/>
                <a:ea typeface="Calibri" pitchFamily="34" charset="-122"/>
                <a:cs typeface="Calibri" pitchFamily="34" charset="-120"/>
              </a:rPr>
              <a:t>Push the staged metadata payload through the Duda API</a:t>
            </a:r>
            <a:endParaRPr lang="en-US" sz="1250" dirty="0"/>
          </a:p>
          <a:p>
            <a:pPr marL="152400" indent="-152400">
              <a:lnSpc>
                <a:spcPts val="1600"/>
              </a:lnSpc>
              <a:spcAft>
                <a:spcPts val="1000"/>
              </a:spcAft>
              <a:buSzPct val="100000"/>
              <a:buChar char="•"/>
            </a:pPr>
            <a:r>
              <a:rPr lang="en-US" sz="1250" dirty="0">
                <a:solidFill>
                  <a:srgbClr val="6E675E"/>
                </a:solidFill>
                <a:latin typeface="Calibri" pitchFamily="34" charset="0"/>
                <a:ea typeface="Calibri" pitchFamily="34" charset="-122"/>
                <a:cs typeface="Calibri" pitchFamily="34" charset="-120"/>
              </a:rPr>
              <a:t>Entity schema live: business, people, license, service area</a:t>
            </a:r>
            <a:endParaRPr lang="en-US" sz="1250" dirty="0"/>
          </a:p>
          <a:p>
            <a:pPr marL="152400" indent="-152400">
              <a:lnSpc>
                <a:spcPts val="1600"/>
              </a:lnSpc>
              <a:spcAft>
                <a:spcPts val="1000"/>
              </a:spcAft>
              <a:buSzPct val="100000"/>
              <a:buChar char="•"/>
            </a:pPr>
            <a:r>
              <a:rPr lang="en-US" sz="1250" dirty="0">
                <a:solidFill>
                  <a:srgbClr val="6E675E"/>
                </a:solidFill>
                <a:latin typeface="Calibri" pitchFamily="34" charset="0"/>
                <a:ea typeface="Calibri" pitchFamily="34" charset="-122"/>
                <a:cs typeface="Calibri" pitchFamily="34" charset="-120"/>
              </a:rPr>
              <a:t>Claim and build the Rocklin Houzz profile</a:t>
            </a:r>
            <a:endParaRPr lang="en-US" sz="1250" dirty="0"/>
          </a:p>
          <a:p>
            <a:pPr marL="152400" indent="-152400">
              <a:lnSpc>
                <a:spcPts val="1600"/>
              </a:lnSpc>
              <a:spcAft>
                <a:spcPts val="1000"/>
              </a:spcAft>
              <a:buSzPct val="100000"/>
              <a:buChar char="•"/>
            </a:pPr>
            <a:r>
              <a:rPr lang="en-US" sz="1250" dirty="0">
                <a:solidFill>
                  <a:srgbClr val="6E675E"/>
                </a:solidFill>
                <a:latin typeface="Calibri" pitchFamily="34" charset="0"/>
                <a:ea typeface="Calibri" pitchFamily="34" charset="-122"/>
                <a:cs typeface="Calibri" pitchFamily="34" charset="-120"/>
              </a:rPr>
              <a:t>Rebuild Google Business Profile around target projects</a:t>
            </a:r>
            <a:endParaRPr lang="en-US" sz="1250" dirty="0"/>
          </a:p>
        </p:txBody>
      </p:sp>
      <p:sp>
        <p:nvSpPr>
          <p:cNvPr id="7" name="Shape 5"/>
          <p:cNvSpPr/>
          <p:nvPr/>
        </p:nvSpPr>
        <p:spPr>
          <a:xfrm>
            <a:off x="4398264" y="1417320"/>
            <a:ext cx="3392424" cy="4892040"/>
          </a:xfrm>
          <a:prstGeom prst="roundRect">
            <a:avLst>
              <a:gd name="adj" fmla="val 2156"/>
            </a:avLst>
          </a:prstGeom>
          <a:solidFill>
            <a:srgbClr val="F3EDE3"/>
          </a:solidFill>
          <a:ln/>
        </p:spPr>
      </p:sp>
      <p:sp>
        <p:nvSpPr>
          <p:cNvPr id="8" name="Text 6"/>
          <p:cNvSpPr/>
          <p:nvPr/>
        </p:nvSpPr>
        <p:spPr>
          <a:xfrm>
            <a:off x="4690872" y="1691640"/>
            <a:ext cx="2807208" cy="320040"/>
          </a:xfrm>
          <a:prstGeom prst="rect">
            <a:avLst/>
          </a:prstGeom>
          <a:noFill/>
          <a:ln/>
        </p:spPr>
        <p:txBody>
          <a:bodyPr wrap="square" lIns="0" tIns="0" rIns="0" bIns="0" rtlCol="0" anchor="ctr"/>
          <a:lstStyle/>
          <a:p>
            <a:pPr indent="0" marL="0">
              <a:buNone/>
            </a:pPr>
            <a:r>
              <a:rPr lang="en-US" sz="1200" b="1" spc="200" kern="0" dirty="0">
                <a:solidFill>
                  <a:srgbClr val="A97E48"/>
                </a:solidFill>
                <a:latin typeface="Calibri" pitchFamily="34" charset="0"/>
                <a:ea typeface="Calibri" pitchFamily="34" charset="-122"/>
                <a:cs typeface="Calibri" pitchFamily="34" charset="-120"/>
              </a:rPr>
              <a:t>DAYS 31 TO 60</a:t>
            </a:r>
            <a:endParaRPr lang="en-US" sz="1200" dirty="0"/>
          </a:p>
        </p:txBody>
      </p:sp>
      <p:sp>
        <p:nvSpPr>
          <p:cNvPr id="9" name="Text 7"/>
          <p:cNvSpPr/>
          <p:nvPr/>
        </p:nvSpPr>
        <p:spPr>
          <a:xfrm>
            <a:off x="4690872" y="2011680"/>
            <a:ext cx="2807208" cy="502920"/>
          </a:xfrm>
          <a:prstGeom prst="rect">
            <a:avLst/>
          </a:prstGeom>
          <a:noFill/>
          <a:ln/>
        </p:spPr>
        <p:txBody>
          <a:bodyPr wrap="square" lIns="0" tIns="0" rIns="0" bIns="0" rtlCol="0" anchor="ctr"/>
          <a:lstStyle/>
          <a:p>
            <a:pPr indent="0" marL="0">
              <a:buNone/>
            </a:pPr>
            <a:r>
              <a:rPr lang="en-US" sz="2100" b="1" dirty="0">
                <a:solidFill>
                  <a:srgbClr val="26221E"/>
                </a:solidFill>
                <a:latin typeface="Cambria" pitchFamily="34" charset="0"/>
                <a:ea typeface="Cambria" pitchFamily="34" charset="-122"/>
                <a:cs typeface="Cambria" pitchFamily="34" charset="-120"/>
              </a:rPr>
              <a:t>Customer journey</a:t>
            </a:r>
            <a:endParaRPr lang="en-US" sz="2100" dirty="0"/>
          </a:p>
        </p:txBody>
      </p:sp>
      <p:sp>
        <p:nvSpPr>
          <p:cNvPr id="10" name="Text 8"/>
          <p:cNvSpPr/>
          <p:nvPr/>
        </p:nvSpPr>
        <p:spPr>
          <a:xfrm>
            <a:off x="4690872" y="2651760"/>
            <a:ext cx="2807208" cy="3474720"/>
          </a:xfrm>
          <a:prstGeom prst="rect">
            <a:avLst/>
          </a:prstGeom>
          <a:noFill/>
          <a:ln/>
        </p:spPr>
        <p:txBody>
          <a:bodyPr wrap="square" lIns="0" tIns="0" rIns="0" bIns="0" rtlCol="0" anchor="ctr"/>
          <a:lstStyle/>
          <a:p>
            <a:pPr marL="152400" indent="-152400">
              <a:lnSpc>
                <a:spcPts val="1600"/>
              </a:lnSpc>
              <a:spcAft>
                <a:spcPts val="1000"/>
              </a:spcAft>
              <a:buSzPct val="100000"/>
              <a:buChar char="•"/>
            </a:pPr>
            <a:r>
              <a:rPr lang="en-US" sz="1250" dirty="0">
                <a:solidFill>
                  <a:srgbClr val="6E675E"/>
                </a:solidFill>
                <a:latin typeface="Calibri" pitchFamily="34" charset="0"/>
                <a:ea typeface="Calibri" pitchFamily="34" charset="-122"/>
                <a:cs typeface="Calibri" pitchFamily="34" charset="-120"/>
              </a:rPr>
              <a:t>Launch kitchen, full home, and additions/ADU service pages</a:t>
            </a:r>
            <a:endParaRPr lang="en-US" sz="1250" dirty="0"/>
          </a:p>
          <a:p>
            <a:pPr marL="152400" indent="-152400">
              <a:lnSpc>
                <a:spcPts val="1600"/>
              </a:lnSpc>
              <a:spcAft>
                <a:spcPts val="1000"/>
              </a:spcAft>
              <a:buSzPct val="100000"/>
              <a:buChar char="•"/>
            </a:pPr>
            <a:r>
              <a:rPr lang="en-US" sz="1250" dirty="0">
                <a:solidFill>
                  <a:srgbClr val="6E675E"/>
                </a:solidFill>
                <a:latin typeface="Calibri" pitchFamily="34" charset="0"/>
                <a:ea typeface="Calibri" pitchFamily="34" charset="-122"/>
                <a:cs typeface="Calibri" pitchFamily="34" charset="-120"/>
              </a:rPr>
              <a:t>Projects hub; case studies re-slugged with service and city</a:t>
            </a:r>
            <a:endParaRPr lang="en-US" sz="1250" dirty="0"/>
          </a:p>
          <a:p>
            <a:pPr marL="152400" indent="-152400">
              <a:lnSpc>
                <a:spcPts val="1600"/>
              </a:lnSpc>
              <a:spcAft>
                <a:spcPts val="1000"/>
              </a:spcAft>
              <a:buSzPct val="100000"/>
              <a:buChar char="•"/>
            </a:pPr>
            <a:r>
              <a:rPr lang="en-US" sz="1250" dirty="0">
                <a:solidFill>
                  <a:srgbClr val="6E675E"/>
                </a:solidFill>
                <a:latin typeface="Calibri" pitchFamily="34" charset="0"/>
                <a:ea typeface="Calibri" pitchFamily="34" charset="-122"/>
                <a:cs typeface="Calibri" pitchFamily="34" charset="-120"/>
              </a:rPr>
              <a:t>Testimonials page with sourced review schema</a:t>
            </a:r>
            <a:endParaRPr lang="en-US" sz="1250" dirty="0"/>
          </a:p>
          <a:p>
            <a:pPr marL="152400" indent="-152400">
              <a:lnSpc>
                <a:spcPts val="1600"/>
              </a:lnSpc>
              <a:spcAft>
                <a:spcPts val="1000"/>
              </a:spcAft>
              <a:buSzPct val="100000"/>
              <a:buChar char="•"/>
            </a:pPr>
            <a:r>
              <a:rPr lang="en-US" sz="1250" dirty="0">
                <a:solidFill>
                  <a:srgbClr val="6E675E"/>
                </a:solidFill>
                <a:latin typeface="Calibri" pitchFamily="34" charset="0"/>
                <a:ea typeface="Calibri" pitchFamily="34" charset="-122"/>
                <a:cs typeface="Calibri" pitchFamily="34" charset="-120"/>
              </a:rPr>
              <a:t>Internal links connect services, projects, people, reviews</a:t>
            </a:r>
            <a:endParaRPr lang="en-US" sz="1250" dirty="0"/>
          </a:p>
          <a:p>
            <a:pPr marL="152400" indent="-152400">
              <a:lnSpc>
                <a:spcPts val="1600"/>
              </a:lnSpc>
              <a:spcAft>
                <a:spcPts val="1000"/>
              </a:spcAft>
              <a:buSzPct val="100000"/>
              <a:buChar char="•"/>
            </a:pPr>
            <a:r>
              <a:rPr lang="en-US" sz="1250" dirty="0">
                <a:solidFill>
                  <a:srgbClr val="6E675E"/>
                </a:solidFill>
                <a:latin typeface="Calibri" pitchFamily="34" charset="0"/>
                <a:ea typeface="Calibri" pitchFamily="34" charset="-122"/>
                <a:cs typeface="Calibri" pitchFamily="34" charset="-120"/>
              </a:rPr>
              <a:t>First cost guide published with real investment bands</a:t>
            </a:r>
            <a:endParaRPr lang="en-US" sz="1250" dirty="0"/>
          </a:p>
        </p:txBody>
      </p:sp>
      <p:sp>
        <p:nvSpPr>
          <p:cNvPr id="11" name="Shape 9"/>
          <p:cNvSpPr/>
          <p:nvPr/>
        </p:nvSpPr>
        <p:spPr>
          <a:xfrm>
            <a:off x="7973568" y="1417320"/>
            <a:ext cx="3392424" cy="4892040"/>
          </a:xfrm>
          <a:prstGeom prst="roundRect">
            <a:avLst>
              <a:gd name="adj" fmla="val 2156"/>
            </a:avLst>
          </a:prstGeom>
          <a:solidFill>
            <a:srgbClr val="2A2521"/>
          </a:solidFill>
          <a:ln/>
        </p:spPr>
      </p:sp>
      <p:sp>
        <p:nvSpPr>
          <p:cNvPr id="12" name="Text 10"/>
          <p:cNvSpPr/>
          <p:nvPr/>
        </p:nvSpPr>
        <p:spPr>
          <a:xfrm>
            <a:off x="8266176" y="1691640"/>
            <a:ext cx="2807208" cy="320040"/>
          </a:xfrm>
          <a:prstGeom prst="rect">
            <a:avLst/>
          </a:prstGeom>
          <a:noFill/>
          <a:ln/>
        </p:spPr>
        <p:txBody>
          <a:bodyPr wrap="square" lIns="0" tIns="0" rIns="0" bIns="0" rtlCol="0" anchor="ctr"/>
          <a:lstStyle/>
          <a:p>
            <a:pPr indent="0" marL="0">
              <a:buNone/>
            </a:pPr>
            <a:r>
              <a:rPr lang="en-US" sz="1200" b="1" spc="200" kern="0" dirty="0">
                <a:solidFill>
                  <a:srgbClr val="A97E48"/>
                </a:solidFill>
                <a:latin typeface="Calibri" pitchFamily="34" charset="0"/>
                <a:ea typeface="Calibri" pitchFamily="34" charset="-122"/>
                <a:cs typeface="Calibri" pitchFamily="34" charset="-120"/>
              </a:rPr>
              <a:t>DAYS 61 TO 90</a:t>
            </a:r>
            <a:endParaRPr lang="en-US" sz="1200" dirty="0"/>
          </a:p>
        </p:txBody>
      </p:sp>
      <p:sp>
        <p:nvSpPr>
          <p:cNvPr id="13" name="Text 11"/>
          <p:cNvSpPr/>
          <p:nvPr/>
        </p:nvSpPr>
        <p:spPr>
          <a:xfrm>
            <a:off x="8266176" y="2011680"/>
            <a:ext cx="2807208" cy="502920"/>
          </a:xfrm>
          <a:prstGeom prst="rect">
            <a:avLst/>
          </a:prstGeom>
          <a:noFill/>
          <a:ln/>
        </p:spPr>
        <p:txBody>
          <a:bodyPr wrap="square" lIns="0" tIns="0" rIns="0" bIns="0"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Expand and learn</a:t>
            </a:r>
            <a:endParaRPr lang="en-US" sz="2100" dirty="0"/>
          </a:p>
        </p:txBody>
      </p:sp>
      <p:sp>
        <p:nvSpPr>
          <p:cNvPr id="14" name="Text 12"/>
          <p:cNvSpPr/>
          <p:nvPr/>
        </p:nvSpPr>
        <p:spPr>
          <a:xfrm>
            <a:off x="8266176" y="2651760"/>
            <a:ext cx="2807208" cy="3474720"/>
          </a:xfrm>
          <a:prstGeom prst="rect">
            <a:avLst/>
          </a:prstGeom>
          <a:noFill/>
          <a:ln/>
        </p:spPr>
        <p:txBody>
          <a:bodyPr wrap="square" lIns="0" tIns="0" rIns="0" bIns="0" rtlCol="0" anchor="ctr"/>
          <a:lstStyle/>
          <a:p>
            <a:pPr marL="152400" indent="-152400">
              <a:lnSpc>
                <a:spcPts val="1600"/>
              </a:lnSpc>
              <a:spcAft>
                <a:spcPts val="1000"/>
              </a:spcAft>
              <a:buSzPct val="100000"/>
              <a:buChar char="•"/>
            </a:pPr>
            <a:r>
              <a:rPr lang="en-US" sz="1250" dirty="0">
                <a:solidFill>
                  <a:srgbClr val="D8D2C8"/>
                </a:solidFill>
                <a:latin typeface="Calibri" pitchFamily="34" charset="0"/>
                <a:ea typeface="Calibri" pitchFamily="34" charset="-122"/>
                <a:cs typeface="Calibri" pitchFamily="34" charset="-120"/>
              </a:rPr>
              <a:t>Granite Bay and Rocklin city pages live</a:t>
            </a:r>
            <a:endParaRPr lang="en-US" sz="1250" dirty="0"/>
          </a:p>
          <a:p>
            <a:pPr marL="152400" indent="-152400">
              <a:lnSpc>
                <a:spcPts val="1600"/>
              </a:lnSpc>
              <a:spcAft>
                <a:spcPts val="1000"/>
              </a:spcAft>
              <a:buSzPct val="100000"/>
              <a:buChar char="•"/>
            </a:pPr>
            <a:r>
              <a:rPr lang="en-US" sz="1250" dirty="0">
                <a:solidFill>
                  <a:srgbClr val="D8D2C8"/>
                </a:solidFill>
                <a:latin typeface="Calibri" pitchFamily="34" charset="0"/>
                <a:ea typeface="Calibri" pitchFamily="34" charset="-122"/>
                <a:cs typeface="Calibri" pitchFamily="34" charset="-120"/>
              </a:rPr>
              <a:t>Timeline, permit and ADU answer content</a:t>
            </a:r>
            <a:endParaRPr lang="en-US" sz="1250" dirty="0"/>
          </a:p>
          <a:p>
            <a:pPr marL="152400" indent="-152400">
              <a:lnSpc>
                <a:spcPts val="1600"/>
              </a:lnSpc>
              <a:spcAft>
                <a:spcPts val="1000"/>
              </a:spcAft>
              <a:buSzPct val="100000"/>
              <a:buChar char="•"/>
            </a:pPr>
            <a:r>
              <a:rPr lang="en-US" sz="1250" dirty="0">
                <a:solidFill>
                  <a:srgbClr val="D8D2C8"/>
                </a:solidFill>
                <a:latin typeface="Calibri" pitchFamily="34" charset="0"/>
                <a:ea typeface="Calibri" pitchFamily="34" charset="-122"/>
                <a:cs typeface="Calibri" pitchFamily="34" charset="-120"/>
              </a:rPr>
              <a:t>Partner link outreach: designers, realtors, NARI, NKBA</a:t>
            </a:r>
            <a:endParaRPr lang="en-US" sz="1250" dirty="0"/>
          </a:p>
          <a:p>
            <a:pPr marL="152400" indent="-152400">
              <a:lnSpc>
                <a:spcPts val="1600"/>
              </a:lnSpc>
              <a:spcAft>
                <a:spcPts val="1000"/>
              </a:spcAft>
              <a:buSzPct val="100000"/>
              <a:buChar char="•"/>
            </a:pPr>
            <a:r>
              <a:rPr lang="en-US" sz="1250" dirty="0">
                <a:solidFill>
                  <a:srgbClr val="D8D2C8"/>
                </a:solidFill>
                <a:latin typeface="Calibri" pitchFamily="34" charset="0"/>
                <a:ea typeface="Calibri" pitchFamily="34" charset="-122"/>
                <a:cs typeface="Calibri" pitchFamily="34" charset="-120"/>
              </a:rPr>
              <a:t>Core Web Vitals pass on the heaviest templates</a:t>
            </a:r>
            <a:endParaRPr lang="en-US" sz="1250" dirty="0"/>
          </a:p>
          <a:p>
            <a:pPr marL="152400" indent="-152400">
              <a:lnSpc>
                <a:spcPts val="1600"/>
              </a:lnSpc>
              <a:spcAft>
                <a:spcPts val="1000"/>
              </a:spcAft>
              <a:buSzPct val="100000"/>
              <a:buChar char="•"/>
            </a:pPr>
            <a:r>
              <a:rPr lang="en-US" sz="1250" dirty="0">
                <a:solidFill>
                  <a:srgbClr val="D8D2C8"/>
                </a:solidFill>
                <a:latin typeface="Calibri" pitchFamily="34" charset="0"/>
                <a:ea typeface="Calibri" pitchFamily="34" charset="-122"/>
                <a:cs typeface="Calibri" pitchFamily="34" charset="-120"/>
              </a:rPr>
              <a:t>Report results by intent; set the next 90 day roadmap</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02920"/>
            <a:ext cx="10607040" cy="640080"/>
          </a:xfrm>
          <a:prstGeom prst="rect">
            <a:avLst/>
          </a:prstGeom>
          <a:noFill/>
          <a:ln/>
        </p:spPr>
        <p:txBody>
          <a:bodyPr wrap="square" lIns="0" tIns="0" rIns="0" bIns="0" rtlCol="0" anchor="ctr"/>
          <a:lstStyle/>
          <a:p>
            <a:pPr indent="0" marL="0">
              <a:buNone/>
            </a:pPr>
            <a:r>
              <a:rPr lang="en-US" sz="3600" b="1" dirty="0">
                <a:solidFill>
                  <a:srgbClr val="26221E"/>
                </a:solidFill>
                <a:latin typeface="Cambria" pitchFamily="34" charset="0"/>
                <a:ea typeface="Cambria" pitchFamily="34" charset="-122"/>
                <a:cs typeface="Cambria" pitchFamily="34" charset="-120"/>
              </a:rPr>
              <a:t>Measuring a 19 project business</a:t>
            </a:r>
            <a:endParaRPr lang="en-US" sz="3600" dirty="0"/>
          </a:p>
        </p:txBody>
      </p:sp>
      <p:sp>
        <p:nvSpPr>
          <p:cNvPr id="3" name="Text 1"/>
          <p:cNvSpPr/>
          <p:nvPr/>
        </p:nvSpPr>
        <p:spPr>
          <a:xfrm>
            <a:off x="822960" y="1234440"/>
            <a:ext cx="10058400" cy="457200"/>
          </a:xfrm>
          <a:prstGeom prst="rect">
            <a:avLst/>
          </a:prstGeom>
          <a:noFill/>
          <a:ln/>
        </p:spPr>
        <p:txBody>
          <a:bodyPr wrap="square" lIns="0" tIns="0" rIns="0" bIns="0" rtlCol="0" anchor="ctr"/>
          <a:lstStyle/>
          <a:p>
            <a:pPr indent="0" marL="0">
              <a:buNone/>
            </a:pPr>
            <a:r>
              <a:rPr lang="en-US" sz="1500" dirty="0">
                <a:solidFill>
                  <a:srgbClr val="6E675E"/>
                </a:solidFill>
                <a:latin typeface="Calibri" pitchFamily="34" charset="0"/>
                <a:ea typeface="Calibri" pitchFamily="34" charset="-122"/>
                <a:cs typeface="Calibri" pitchFamily="34" charset="-120"/>
              </a:rPr>
              <a:t>Not sessions. For a firm that limits its project count, traffic is a vanity number. These are the five numbers in the monthly report.</a:t>
            </a:r>
            <a:endParaRPr lang="en-US" sz="1500" dirty="0"/>
          </a:p>
        </p:txBody>
      </p:sp>
      <p:sp>
        <p:nvSpPr>
          <p:cNvPr id="4" name="Shape 2"/>
          <p:cNvSpPr/>
          <p:nvPr/>
        </p:nvSpPr>
        <p:spPr>
          <a:xfrm>
            <a:off x="822960" y="1892808"/>
            <a:ext cx="10543032" cy="786384"/>
          </a:xfrm>
          <a:prstGeom prst="roundRect">
            <a:avLst>
              <a:gd name="adj" fmla="val 6977"/>
            </a:avLst>
          </a:prstGeom>
          <a:solidFill>
            <a:srgbClr val="F3EDE3"/>
          </a:solidFill>
          <a:ln/>
        </p:spPr>
      </p:sp>
      <p:sp>
        <p:nvSpPr>
          <p:cNvPr id="5" name="Shape 3"/>
          <p:cNvSpPr/>
          <p:nvPr/>
        </p:nvSpPr>
        <p:spPr>
          <a:xfrm>
            <a:off x="1024128" y="2020824"/>
            <a:ext cx="512064" cy="512064"/>
          </a:xfrm>
          <a:prstGeom prst="ellipse">
            <a:avLst/>
          </a:prstGeom>
          <a:solidFill>
            <a:srgbClr val="8A6335"/>
          </a:solidFill>
          <a:ln/>
        </p:spPr>
      </p:sp>
      <p:pic>
        <p:nvPicPr>
          <p:cNvPr id="6" name="Image 0" descr="preencoded.png">    </p:cNvPr>
          <p:cNvPicPr>
            <a:picLocks noChangeAspect="1"/>
          </p:cNvPicPr>
          <p:nvPr/>
        </p:nvPicPr>
        <p:blipFill>
          <a:blip r:embed="rId1"/>
          <a:stretch>
            <a:fillRect/>
          </a:stretch>
        </p:blipFill>
        <p:spPr>
          <a:xfrm>
            <a:off x="1162385" y="2159081"/>
            <a:ext cx="235549" cy="235549"/>
          </a:xfrm>
          <a:prstGeom prst="rect">
            <a:avLst/>
          </a:prstGeom>
        </p:spPr>
      </p:pic>
      <p:sp>
        <p:nvSpPr>
          <p:cNvPr id="7" name="Text 4"/>
          <p:cNvSpPr/>
          <p:nvPr/>
        </p:nvSpPr>
        <p:spPr>
          <a:xfrm>
            <a:off x="1783080" y="1965960"/>
            <a:ext cx="2377440" cy="658368"/>
          </a:xfrm>
          <a:prstGeom prst="rect">
            <a:avLst/>
          </a:prstGeom>
          <a:noFill/>
          <a:ln/>
        </p:spPr>
        <p:txBody>
          <a:bodyPr wrap="square" lIns="0" tIns="0" rIns="0" bIns="0" rtlCol="0" anchor="ctr"/>
          <a:lstStyle/>
          <a:p>
            <a:pPr indent="0" marL="0">
              <a:lnSpc>
                <a:spcPts val="1600"/>
              </a:lnSpc>
              <a:buNone/>
            </a:pPr>
            <a:r>
              <a:rPr lang="en-US" sz="1400" b="1" dirty="0">
                <a:solidFill>
                  <a:srgbClr val="26221E"/>
                </a:solidFill>
                <a:latin typeface="Calibri" pitchFamily="34" charset="0"/>
                <a:ea typeface="Calibri" pitchFamily="34" charset="-122"/>
                <a:cs typeface="Calibri" pitchFamily="34" charset="-120"/>
              </a:rPr>
              <a:t>Branded search</a:t>
            </a:r>
            <a:endParaRPr lang="en-US" sz="1400" dirty="0"/>
          </a:p>
        </p:txBody>
      </p:sp>
      <p:sp>
        <p:nvSpPr>
          <p:cNvPr id="8" name="Text 5"/>
          <p:cNvSpPr/>
          <p:nvPr/>
        </p:nvSpPr>
        <p:spPr>
          <a:xfrm>
            <a:off x="4251960" y="1965960"/>
            <a:ext cx="4663440" cy="658368"/>
          </a:xfrm>
          <a:prstGeom prst="rect">
            <a:avLst/>
          </a:prstGeom>
          <a:noFill/>
          <a:ln/>
        </p:spPr>
        <p:txBody>
          <a:bodyPr wrap="square" lIns="0" tIns="0" rIns="0" bIns="0" rtlCol="0" anchor="ctr"/>
          <a:lstStyle/>
          <a:p>
            <a:pPr indent="0" marL="0">
              <a:lnSpc>
                <a:spcPts val="1500"/>
              </a:lnSpc>
              <a:buNone/>
            </a:pPr>
            <a:r>
              <a:rPr lang="en-US" sz="1250" dirty="0">
                <a:solidFill>
                  <a:srgbClr val="6E675E"/>
                </a:solidFill>
                <a:latin typeface="Calibri" pitchFamily="34" charset="0"/>
                <a:ea typeface="Calibri" pitchFamily="34" charset="-122"/>
                <a:cs typeface="Calibri" pitchFamily="34" charset="-120"/>
              </a:rPr>
              <a:t>"Wolff Construction Rocklin" outranks the San Francisco firm</a:t>
            </a:r>
            <a:endParaRPr lang="en-US" sz="1250" dirty="0"/>
          </a:p>
        </p:txBody>
      </p:sp>
      <p:sp>
        <p:nvSpPr>
          <p:cNvPr id="9" name="Text 6"/>
          <p:cNvSpPr/>
          <p:nvPr/>
        </p:nvSpPr>
        <p:spPr>
          <a:xfrm>
            <a:off x="9052560" y="1965960"/>
            <a:ext cx="2240280" cy="658368"/>
          </a:xfrm>
          <a:prstGeom prst="rect">
            <a:avLst/>
          </a:prstGeom>
          <a:noFill/>
          <a:ln/>
        </p:spPr>
        <p:txBody>
          <a:bodyPr wrap="square" lIns="0" tIns="0" rIns="0" bIns="0" rtlCol="0" anchor="ctr"/>
          <a:lstStyle/>
          <a:p>
            <a:pPr indent="0" marL="0">
              <a:lnSpc>
                <a:spcPts val="1500"/>
              </a:lnSpc>
              <a:buNone/>
            </a:pPr>
            <a:r>
              <a:rPr lang="en-US" sz="1200" i="1" dirty="0">
                <a:solidFill>
                  <a:srgbClr val="8A6335"/>
                </a:solidFill>
                <a:latin typeface="Calibri" pitchFamily="34" charset="0"/>
                <a:ea typeface="Calibri" pitchFamily="34" charset="-122"/>
                <a:cs typeface="Calibri" pitchFamily="34" charset="-120"/>
              </a:rPr>
              <a:t>Entity resolution is working</a:t>
            </a:r>
            <a:endParaRPr lang="en-US" sz="1200" dirty="0"/>
          </a:p>
        </p:txBody>
      </p:sp>
      <p:sp>
        <p:nvSpPr>
          <p:cNvPr id="10" name="Shape 7"/>
          <p:cNvSpPr/>
          <p:nvPr/>
        </p:nvSpPr>
        <p:spPr>
          <a:xfrm>
            <a:off x="1024128" y="2862072"/>
            <a:ext cx="512064" cy="512064"/>
          </a:xfrm>
          <a:prstGeom prst="ellipse">
            <a:avLst/>
          </a:prstGeom>
          <a:solidFill>
            <a:srgbClr val="8A6335"/>
          </a:solidFill>
          <a:ln/>
        </p:spPr>
      </p:sp>
      <p:pic>
        <p:nvPicPr>
          <p:cNvPr id="11" name="Image 1" descr="preencoded.png">    </p:cNvPr>
          <p:cNvPicPr>
            <a:picLocks noChangeAspect="1"/>
          </p:cNvPicPr>
          <p:nvPr/>
        </p:nvPicPr>
        <p:blipFill>
          <a:blip r:embed="rId2"/>
          <a:stretch>
            <a:fillRect/>
          </a:stretch>
        </p:blipFill>
        <p:spPr>
          <a:xfrm>
            <a:off x="1162385" y="3000329"/>
            <a:ext cx="235549" cy="235549"/>
          </a:xfrm>
          <a:prstGeom prst="rect">
            <a:avLst/>
          </a:prstGeom>
        </p:spPr>
      </p:pic>
      <p:sp>
        <p:nvSpPr>
          <p:cNvPr id="12" name="Text 8"/>
          <p:cNvSpPr/>
          <p:nvPr/>
        </p:nvSpPr>
        <p:spPr>
          <a:xfrm>
            <a:off x="1783080" y="2807208"/>
            <a:ext cx="2377440" cy="658368"/>
          </a:xfrm>
          <a:prstGeom prst="rect">
            <a:avLst/>
          </a:prstGeom>
          <a:noFill/>
          <a:ln/>
        </p:spPr>
        <p:txBody>
          <a:bodyPr wrap="square" lIns="0" tIns="0" rIns="0" bIns="0" rtlCol="0" anchor="ctr"/>
          <a:lstStyle/>
          <a:p>
            <a:pPr indent="0" marL="0">
              <a:lnSpc>
                <a:spcPts val="1600"/>
              </a:lnSpc>
              <a:buNone/>
            </a:pPr>
            <a:r>
              <a:rPr lang="en-US" sz="1400" b="1" dirty="0">
                <a:solidFill>
                  <a:srgbClr val="26221E"/>
                </a:solidFill>
                <a:latin typeface="Calibri" pitchFamily="34" charset="0"/>
                <a:ea typeface="Calibri" pitchFamily="34" charset="-122"/>
                <a:cs typeface="Calibri" pitchFamily="34" charset="-120"/>
              </a:rPr>
              <a:t>AI citation share</a:t>
            </a:r>
            <a:endParaRPr lang="en-US" sz="1400" dirty="0"/>
          </a:p>
        </p:txBody>
      </p:sp>
      <p:sp>
        <p:nvSpPr>
          <p:cNvPr id="13" name="Text 9"/>
          <p:cNvSpPr/>
          <p:nvPr/>
        </p:nvSpPr>
        <p:spPr>
          <a:xfrm>
            <a:off x="4251960" y="2807208"/>
            <a:ext cx="4663440" cy="658368"/>
          </a:xfrm>
          <a:prstGeom prst="rect">
            <a:avLst/>
          </a:prstGeom>
          <a:noFill/>
          <a:ln/>
        </p:spPr>
        <p:txBody>
          <a:bodyPr wrap="square" lIns="0" tIns="0" rIns="0" bIns="0" rtlCol="0" anchor="ctr"/>
          <a:lstStyle/>
          <a:p>
            <a:pPr indent="0" marL="0">
              <a:lnSpc>
                <a:spcPts val="1500"/>
              </a:lnSpc>
              <a:buNone/>
            </a:pPr>
            <a:r>
              <a:rPr lang="en-US" sz="1250" dirty="0">
                <a:solidFill>
                  <a:srgbClr val="6E675E"/>
                </a:solidFill>
                <a:latin typeface="Calibri" pitchFamily="34" charset="0"/>
                <a:ea typeface="Calibri" pitchFamily="34" charset="-122"/>
                <a:cs typeface="Calibri" pitchFamily="34" charset="-120"/>
              </a:rPr>
              <a:t>Presence in ChatGPT, Perplexity and AI Overviews for the target question set</a:t>
            </a:r>
            <a:endParaRPr lang="en-US" sz="1250" dirty="0"/>
          </a:p>
        </p:txBody>
      </p:sp>
      <p:sp>
        <p:nvSpPr>
          <p:cNvPr id="14" name="Text 10"/>
          <p:cNvSpPr/>
          <p:nvPr/>
        </p:nvSpPr>
        <p:spPr>
          <a:xfrm>
            <a:off x="9052560" y="2807208"/>
            <a:ext cx="2240280" cy="658368"/>
          </a:xfrm>
          <a:prstGeom prst="rect">
            <a:avLst/>
          </a:prstGeom>
          <a:noFill/>
          <a:ln/>
        </p:spPr>
        <p:txBody>
          <a:bodyPr wrap="square" lIns="0" tIns="0" rIns="0" bIns="0" rtlCol="0" anchor="ctr"/>
          <a:lstStyle/>
          <a:p>
            <a:pPr indent="0" marL="0">
              <a:lnSpc>
                <a:spcPts val="1500"/>
              </a:lnSpc>
              <a:buNone/>
            </a:pPr>
            <a:r>
              <a:rPr lang="en-US" sz="1200" i="1" dirty="0">
                <a:solidFill>
                  <a:srgbClr val="8A6335"/>
                </a:solidFill>
                <a:latin typeface="Calibri" pitchFamily="34" charset="0"/>
                <a:ea typeface="Calibri" pitchFamily="34" charset="-122"/>
                <a:cs typeface="Calibri" pitchFamily="34" charset="-120"/>
              </a:rPr>
              <a:t>The actual GEO scoreboard</a:t>
            </a:r>
            <a:endParaRPr lang="en-US" sz="1200" dirty="0"/>
          </a:p>
        </p:txBody>
      </p:sp>
      <p:sp>
        <p:nvSpPr>
          <p:cNvPr id="15" name="Shape 11"/>
          <p:cNvSpPr/>
          <p:nvPr/>
        </p:nvSpPr>
        <p:spPr>
          <a:xfrm>
            <a:off x="822960" y="3575304"/>
            <a:ext cx="10543032" cy="786384"/>
          </a:xfrm>
          <a:prstGeom prst="roundRect">
            <a:avLst>
              <a:gd name="adj" fmla="val 6977"/>
            </a:avLst>
          </a:prstGeom>
          <a:solidFill>
            <a:srgbClr val="F3EDE3"/>
          </a:solidFill>
          <a:ln/>
        </p:spPr>
      </p:sp>
      <p:sp>
        <p:nvSpPr>
          <p:cNvPr id="16" name="Shape 12"/>
          <p:cNvSpPr/>
          <p:nvPr/>
        </p:nvSpPr>
        <p:spPr>
          <a:xfrm>
            <a:off x="1024128" y="3703320"/>
            <a:ext cx="512064" cy="512064"/>
          </a:xfrm>
          <a:prstGeom prst="ellipse">
            <a:avLst/>
          </a:prstGeom>
          <a:solidFill>
            <a:srgbClr val="8A6335"/>
          </a:solidFill>
          <a:ln/>
        </p:spPr>
      </p:sp>
      <p:pic>
        <p:nvPicPr>
          <p:cNvPr id="17" name="Image 2" descr="preencoded.png">    </p:cNvPr>
          <p:cNvPicPr>
            <a:picLocks noChangeAspect="1"/>
          </p:cNvPicPr>
          <p:nvPr/>
        </p:nvPicPr>
        <p:blipFill>
          <a:blip r:embed="rId3"/>
          <a:stretch>
            <a:fillRect/>
          </a:stretch>
        </p:blipFill>
        <p:spPr>
          <a:xfrm>
            <a:off x="1162385" y="3841577"/>
            <a:ext cx="235549" cy="235549"/>
          </a:xfrm>
          <a:prstGeom prst="rect">
            <a:avLst/>
          </a:prstGeom>
        </p:spPr>
      </p:pic>
      <p:sp>
        <p:nvSpPr>
          <p:cNvPr id="18" name="Text 13"/>
          <p:cNvSpPr/>
          <p:nvPr/>
        </p:nvSpPr>
        <p:spPr>
          <a:xfrm>
            <a:off x="1783080" y="3648456"/>
            <a:ext cx="2377440" cy="658368"/>
          </a:xfrm>
          <a:prstGeom prst="rect">
            <a:avLst/>
          </a:prstGeom>
          <a:noFill/>
          <a:ln/>
        </p:spPr>
        <p:txBody>
          <a:bodyPr wrap="square" lIns="0" tIns="0" rIns="0" bIns="0" rtlCol="0" anchor="ctr"/>
          <a:lstStyle/>
          <a:p>
            <a:pPr indent="0" marL="0">
              <a:lnSpc>
                <a:spcPts val="1600"/>
              </a:lnSpc>
              <a:buNone/>
            </a:pPr>
            <a:r>
              <a:rPr lang="en-US" sz="1400" b="1" dirty="0">
                <a:solidFill>
                  <a:srgbClr val="26221E"/>
                </a:solidFill>
                <a:latin typeface="Calibri" pitchFamily="34" charset="0"/>
                <a:ea typeface="Calibri" pitchFamily="34" charset="-122"/>
                <a:cs typeface="Calibri" pitchFamily="34" charset="-120"/>
              </a:rPr>
              <a:t>Local pack position</a:t>
            </a:r>
            <a:endParaRPr lang="en-US" sz="1400" dirty="0"/>
          </a:p>
        </p:txBody>
      </p:sp>
      <p:sp>
        <p:nvSpPr>
          <p:cNvPr id="19" name="Text 14"/>
          <p:cNvSpPr/>
          <p:nvPr/>
        </p:nvSpPr>
        <p:spPr>
          <a:xfrm>
            <a:off x="4251960" y="3648456"/>
            <a:ext cx="4663440" cy="658368"/>
          </a:xfrm>
          <a:prstGeom prst="rect">
            <a:avLst/>
          </a:prstGeom>
          <a:noFill/>
          <a:ln/>
        </p:spPr>
        <p:txBody>
          <a:bodyPr wrap="square" lIns="0" tIns="0" rIns="0" bIns="0" rtlCol="0" anchor="ctr"/>
          <a:lstStyle/>
          <a:p>
            <a:pPr indent="0" marL="0">
              <a:lnSpc>
                <a:spcPts val="1500"/>
              </a:lnSpc>
              <a:buNone/>
            </a:pPr>
            <a:r>
              <a:rPr lang="en-US" sz="1250" dirty="0">
                <a:solidFill>
                  <a:srgbClr val="6E675E"/>
                </a:solidFill>
                <a:latin typeface="Calibri" pitchFamily="34" charset="0"/>
                <a:ea typeface="Calibri" pitchFamily="34" charset="-122"/>
                <a:cs typeface="Calibri" pitchFamily="34" charset="-120"/>
              </a:rPr>
              <a:t>Kitchen remodel, home addition, ADU builder in Rocklin and Granite Bay</a:t>
            </a:r>
            <a:endParaRPr lang="en-US" sz="1250" dirty="0"/>
          </a:p>
        </p:txBody>
      </p:sp>
      <p:sp>
        <p:nvSpPr>
          <p:cNvPr id="20" name="Text 15"/>
          <p:cNvSpPr/>
          <p:nvPr/>
        </p:nvSpPr>
        <p:spPr>
          <a:xfrm>
            <a:off x="9052560" y="3648456"/>
            <a:ext cx="2240280" cy="658368"/>
          </a:xfrm>
          <a:prstGeom prst="rect">
            <a:avLst/>
          </a:prstGeom>
          <a:noFill/>
          <a:ln/>
        </p:spPr>
        <p:txBody>
          <a:bodyPr wrap="square" lIns="0" tIns="0" rIns="0" bIns="0" rtlCol="0" anchor="ctr"/>
          <a:lstStyle/>
          <a:p>
            <a:pPr indent="0" marL="0">
              <a:lnSpc>
                <a:spcPts val="1500"/>
              </a:lnSpc>
              <a:buNone/>
            </a:pPr>
            <a:r>
              <a:rPr lang="en-US" sz="1200" i="1" dirty="0">
                <a:solidFill>
                  <a:srgbClr val="8A6335"/>
                </a:solidFill>
                <a:latin typeface="Calibri" pitchFamily="34" charset="0"/>
                <a:ea typeface="Calibri" pitchFamily="34" charset="-122"/>
                <a:cs typeface="Calibri" pitchFamily="34" charset="-120"/>
              </a:rPr>
              <a:t>Local visibility</a:t>
            </a:r>
            <a:endParaRPr lang="en-US" sz="1200" dirty="0"/>
          </a:p>
        </p:txBody>
      </p:sp>
      <p:sp>
        <p:nvSpPr>
          <p:cNvPr id="21" name="Shape 16"/>
          <p:cNvSpPr/>
          <p:nvPr/>
        </p:nvSpPr>
        <p:spPr>
          <a:xfrm>
            <a:off x="1024128" y="4544568"/>
            <a:ext cx="512064" cy="512064"/>
          </a:xfrm>
          <a:prstGeom prst="ellipse">
            <a:avLst/>
          </a:prstGeom>
          <a:solidFill>
            <a:srgbClr val="8A6335"/>
          </a:solidFill>
          <a:ln/>
        </p:spPr>
      </p:sp>
      <p:pic>
        <p:nvPicPr>
          <p:cNvPr id="22" name="Image 3" descr="preencoded.png">    </p:cNvPr>
          <p:cNvPicPr>
            <a:picLocks noChangeAspect="1"/>
          </p:cNvPicPr>
          <p:nvPr/>
        </p:nvPicPr>
        <p:blipFill>
          <a:blip r:embed="rId4"/>
          <a:stretch>
            <a:fillRect/>
          </a:stretch>
        </p:blipFill>
        <p:spPr>
          <a:xfrm>
            <a:off x="1162385" y="4682825"/>
            <a:ext cx="235549" cy="235549"/>
          </a:xfrm>
          <a:prstGeom prst="rect">
            <a:avLst/>
          </a:prstGeom>
        </p:spPr>
      </p:pic>
      <p:sp>
        <p:nvSpPr>
          <p:cNvPr id="23" name="Text 17"/>
          <p:cNvSpPr/>
          <p:nvPr/>
        </p:nvSpPr>
        <p:spPr>
          <a:xfrm>
            <a:off x="1783080" y="4489704"/>
            <a:ext cx="2377440" cy="658368"/>
          </a:xfrm>
          <a:prstGeom prst="rect">
            <a:avLst/>
          </a:prstGeom>
          <a:noFill/>
          <a:ln/>
        </p:spPr>
        <p:txBody>
          <a:bodyPr wrap="square" lIns="0" tIns="0" rIns="0" bIns="0" rtlCol="0" anchor="ctr"/>
          <a:lstStyle/>
          <a:p>
            <a:pPr indent="0" marL="0">
              <a:lnSpc>
                <a:spcPts val="1600"/>
              </a:lnSpc>
              <a:buNone/>
            </a:pPr>
            <a:r>
              <a:rPr lang="en-US" sz="1400" b="1" dirty="0">
                <a:solidFill>
                  <a:srgbClr val="26221E"/>
                </a:solidFill>
                <a:latin typeface="Calibri" pitchFamily="34" charset="0"/>
                <a:ea typeface="Calibri" pitchFamily="34" charset="-122"/>
                <a:cs typeface="Calibri" pitchFamily="34" charset="-120"/>
              </a:rPr>
              <a:t>Qualified consultations</a:t>
            </a:r>
            <a:endParaRPr lang="en-US" sz="1400" dirty="0"/>
          </a:p>
        </p:txBody>
      </p:sp>
      <p:sp>
        <p:nvSpPr>
          <p:cNvPr id="24" name="Text 18"/>
          <p:cNvSpPr/>
          <p:nvPr/>
        </p:nvSpPr>
        <p:spPr>
          <a:xfrm>
            <a:off x="4251960" y="4489704"/>
            <a:ext cx="4663440" cy="658368"/>
          </a:xfrm>
          <a:prstGeom prst="rect">
            <a:avLst/>
          </a:prstGeom>
          <a:noFill/>
          <a:ln/>
        </p:spPr>
        <p:txBody>
          <a:bodyPr wrap="square" lIns="0" tIns="0" rIns="0" bIns="0" rtlCol="0" anchor="ctr"/>
          <a:lstStyle/>
          <a:p>
            <a:pPr indent="0" marL="0">
              <a:lnSpc>
                <a:spcPts val="1500"/>
              </a:lnSpc>
              <a:buNone/>
            </a:pPr>
            <a:r>
              <a:rPr lang="en-US" sz="1250" dirty="0">
                <a:solidFill>
                  <a:srgbClr val="6E675E"/>
                </a:solidFill>
                <a:latin typeface="Calibri" pitchFamily="34" charset="0"/>
                <a:ea typeface="Calibri" pitchFamily="34" charset="-122"/>
                <a:cs typeface="Calibri" pitchFamily="34" charset="-120"/>
              </a:rPr>
              <a:t>Requests with stated budget above the published minimum</a:t>
            </a:r>
            <a:endParaRPr lang="en-US" sz="1250" dirty="0"/>
          </a:p>
        </p:txBody>
      </p:sp>
      <p:sp>
        <p:nvSpPr>
          <p:cNvPr id="25" name="Text 19"/>
          <p:cNvSpPr/>
          <p:nvPr/>
        </p:nvSpPr>
        <p:spPr>
          <a:xfrm>
            <a:off x="9052560" y="4489704"/>
            <a:ext cx="2240280" cy="658368"/>
          </a:xfrm>
          <a:prstGeom prst="rect">
            <a:avLst/>
          </a:prstGeom>
          <a:noFill/>
          <a:ln/>
        </p:spPr>
        <p:txBody>
          <a:bodyPr wrap="square" lIns="0" tIns="0" rIns="0" bIns="0" rtlCol="0" anchor="ctr"/>
          <a:lstStyle/>
          <a:p>
            <a:pPr indent="0" marL="0">
              <a:lnSpc>
                <a:spcPts val="1500"/>
              </a:lnSpc>
              <a:buNone/>
            </a:pPr>
            <a:r>
              <a:rPr lang="en-US" sz="1200" i="1" dirty="0">
                <a:solidFill>
                  <a:srgbClr val="8A6335"/>
                </a:solidFill>
                <a:latin typeface="Calibri" pitchFamily="34" charset="0"/>
                <a:ea typeface="Calibri" pitchFamily="34" charset="-122"/>
                <a:cs typeface="Calibri" pitchFamily="34" charset="-120"/>
              </a:rPr>
              <a:t>Lead quality, not lead count</a:t>
            </a:r>
            <a:endParaRPr lang="en-US" sz="1200" dirty="0"/>
          </a:p>
        </p:txBody>
      </p:sp>
      <p:sp>
        <p:nvSpPr>
          <p:cNvPr id="26" name="Shape 20"/>
          <p:cNvSpPr/>
          <p:nvPr/>
        </p:nvSpPr>
        <p:spPr>
          <a:xfrm>
            <a:off x="822960" y="5257800"/>
            <a:ext cx="10543032" cy="786384"/>
          </a:xfrm>
          <a:prstGeom prst="roundRect">
            <a:avLst>
              <a:gd name="adj" fmla="val 6977"/>
            </a:avLst>
          </a:prstGeom>
          <a:solidFill>
            <a:srgbClr val="F3EDE3"/>
          </a:solidFill>
          <a:ln/>
        </p:spPr>
      </p:sp>
      <p:sp>
        <p:nvSpPr>
          <p:cNvPr id="27" name="Shape 21"/>
          <p:cNvSpPr/>
          <p:nvPr/>
        </p:nvSpPr>
        <p:spPr>
          <a:xfrm>
            <a:off x="1024128" y="5385816"/>
            <a:ext cx="512064" cy="512064"/>
          </a:xfrm>
          <a:prstGeom prst="ellipse">
            <a:avLst/>
          </a:prstGeom>
          <a:solidFill>
            <a:srgbClr val="8A6335"/>
          </a:solidFill>
          <a:ln/>
        </p:spPr>
      </p:sp>
      <p:pic>
        <p:nvPicPr>
          <p:cNvPr id="28" name="Image 4" descr="preencoded.png">    </p:cNvPr>
          <p:cNvPicPr>
            <a:picLocks noChangeAspect="1"/>
          </p:cNvPicPr>
          <p:nvPr/>
        </p:nvPicPr>
        <p:blipFill>
          <a:blip r:embed="rId5"/>
          <a:stretch>
            <a:fillRect/>
          </a:stretch>
        </p:blipFill>
        <p:spPr>
          <a:xfrm>
            <a:off x="1162385" y="5524073"/>
            <a:ext cx="235549" cy="235549"/>
          </a:xfrm>
          <a:prstGeom prst="rect">
            <a:avLst/>
          </a:prstGeom>
        </p:spPr>
      </p:pic>
      <p:sp>
        <p:nvSpPr>
          <p:cNvPr id="29" name="Text 22"/>
          <p:cNvSpPr/>
          <p:nvPr/>
        </p:nvSpPr>
        <p:spPr>
          <a:xfrm>
            <a:off x="1783080" y="5330952"/>
            <a:ext cx="2377440" cy="658368"/>
          </a:xfrm>
          <a:prstGeom prst="rect">
            <a:avLst/>
          </a:prstGeom>
          <a:noFill/>
          <a:ln/>
        </p:spPr>
        <p:txBody>
          <a:bodyPr wrap="square" lIns="0" tIns="0" rIns="0" bIns="0" rtlCol="0" anchor="ctr"/>
          <a:lstStyle/>
          <a:p>
            <a:pPr indent="0" marL="0">
              <a:lnSpc>
                <a:spcPts val="1600"/>
              </a:lnSpc>
              <a:buNone/>
            </a:pPr>
            <a:r>
              <a:rPr lang="en-US" sz="1400" b="1" dirty="0">
                <a:solidFill>
                  <a:srgbClr val="26221E"/>
                </a:solidFill>
                <a:latin typeface="Calibri" pitchFamily="34" charset="0"/>
                <a:ea typeface="Calibri" pitchFamily="34" charset="-122"/>
                <a:cs typeface="Calibri" pitchFamily="34" charset="-120"/>
              </a:rPr>
              <a:t>Assisted conversions</a:t>
            </a:r>
            <a:endParaRPr lang="en-US" sz="1400" dirty="0"/>
          </a:p>
        </p:txBody>
      </p:sp>
      <p:sp>
        <p:nvSpPr>
          <p:cNvPr id="30" name="Text 23"/>
          <p:cNvSpPr/>
          <p:nvPr/>
        </p:nvSpPr>
        <p:spPr>
          <a:xfrm>
            <a:off x="4251960" y="5330952"/>
            <a:ext cx="4663440" cy="658368"/>
          </a:xfrm>
          <a:prstGeom prst="rect">
            <a:avLst/>
          </a:prstGeom>
          <a:noFill/>
          <a:ln/>
        </p:spPr>
        <p:txBody>
          <a:bodyPr wrap="square" lIns="0" tIns="0" rIns="0" bIns="0" rtlCol="0" anchor="ctr"/>
          <a:lstStyle/>
          <a:p>
            <a:pPr indent="0" marL="0">
              <a:lnSpc>
                <a:spcPts val="1500"/>
              </a:lnSpc>
              <a:buNone/>
            </a:pPr>
            <a:r>
              <a:rPr lang="en-US" sz="1250" dirty="0">
                <a:solidFill>
                  <a:srgbClr val="6E675E"/>
                </a:solidFill>
                <a:latin typeface="Calibri" pitchFamily="34" charset="0"/>
                <a:ea typeface="Calibri" pitchFamily="34" charset="-122"/>
                <a:cs typeface="Calibri" pitchFamily="34" charset="-120"/>
              </a:rPr>
              <a:t>Enquiries attributable to Houzz and Google Business Profile</a:t>
            </a:r>
            <a:endParaRPr lang="en-US" sz="1250" dirty="0"/>
          </a:p>
        </p:txBody>
      </p:sp>
      <p:sp>
        <p:nvSpPr>
          <p:cNvPr id="31" name="Text 24"/>
          <p:cNvSpPr/>
          <p:nvPr/>
        </p:nvSpPr>
        <p:spPr>
          <a:xfrm>
            <a:off x="9052560" y="5330952"/>
            <a:ext cx="2240280" cy="658368"/>
          </a:xfrm>
          <a:prstGeom prst="rect">
            <a:avLst/>
          </a:prstGeom>
          <a:noFill/>
          <a:ln/>
        </p:spPr>
        <p:txBody>
          <a:bodyPr wrap="square" lIns="0" tIns="0" rIns="0" bIns="0" rtlCol="0" anchor="ctr"/>
          <a:lstStyle/>
          <a:p>
            <a:pPr indent="0" marL="0">
              <a:lnSpc>
                <a:spcPts val="1500"/>
              </a:lnSpc>
              <a:buNone/>
            </a:pPr>
            <a:r>
              <a:rPr lang="en-US" sz="1200" i="1" dirty="0">
                <a:solidFill>
                  <a:srgbClr val="8A6335"/>
                </a:solidFill>
                <a:latin typeface="Calibri" pitchFamily="34" charset="0"/>
                <a:ea typeface="Calibri" pitchFamily="34" charset="-122"/>
                <a:cs typeface="Calibri" pitchFamily="34" charset="-120"/>
              </a:rPr>
              <a:t>The retrieval layer is working</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02920"/>
            <a:ext cx="10515600" cy="640080"/>
          </a:xfrm>
          <a:prstGeom prst="rect">
            <a:avLst/>
          </a:prstGeom>
          <a:noFill/>
          <a:ln/>
        </p:spPr>
        <p:txBody>
          <a:bodyPr wrap="square" lIns="0" tIns="0" rIns="0" bIns="0" rtlCol="0" anchor="ctr"/>
          <a:lstStyle/>
          <a:p>
            <a:pPr indent="0" marL="0">
              <a:buNone/>
            </a:pPr>
            <a:r>
              <a:rPr lang="en-US" sz="3600" b="1" dirty="0">
                <a:solidFill>
                  <a:srgbClr val="26221E"/>
                </a:solidFill>
                <a:latin typeface="Cambria" pitchFamily="34" charset="0"/>
                <a:ea typeface="Cambria" pitchFamily="34" charset="-122"/>
                <a:cs typeface="Cambria" pitchFamily="34" charset="-120"/>
              </a:rPr>
              <a:t>What I need, and what you get</a:t>
            </a:r>
            <a:endParaRPr lang="en-US" sz="3600" dirty="0"/>
          </a:p>
        </p:txBody>
      </p:sp>
      <p:sp>
        <p:nvSpPr>
          <p:cNvPr id="3" name="Text 1"/>
          <p:cNvSpPr/>
          <p:nvPr/>
        </p:nvSpPr>
        <p:spPr>
          <a:xfrm>
            <a:off x="822960" y="1371600"/>
            <a:ext cx="5120640" cy="411480"/>
          </a:xfrm>
          <a:prstGeom prst="rect">
            <a:avLst/>
          </a:prstGeom>
          <a:noFill/>
          <a:ln/>
        </p:spPr>
        <p:txBody>
          <a:bodyPr wrap="square" lIns="0" tIns="0" rIns="0" bIns="0" rtlCol="0" anchor="ctr"/>
          <a:lstStyle/>
          <a:p>
            <a:pPr indent="0" marL="0">
              <a:buNone/>
            </a:pPr>
            <a:r>
              <a:rPr lang="en-US" sz="2000" b="1" dirty="0">
                <a:solidFill>
                  <a:srgbClr val="8A6335"/>
                </a:solidFill>
                <a:latin typeface="Cambria" pitchFamily="34" charset="0"/>
                <a:ea typeface="Cambria" pitchFamily="34" charset="-122"/>
                <a:cs typeface="Cambria" pitchFamily="34" charset="-120"/>
              </a:rPr>
              <a:t>From you, day one</a:t>
            </a:r>
            <a:endParaRPr lang="en-US" sz="2000" dirty="0"/>
          </a:p>
        </p:txBody>
      </p:sp>
      <p:sp>
        <p:nvSpPr>
          <p:cNvPr id="4" name="Shape 2"/>
          <p:cNvSpPr/>
          <p:nvPr/>
        </p:nvSpPr>
        <p:spPr>
          <a:xfrm>
            <a:off x="822960" y="1965960"/>
            <a:ext cx="566928" cy="566928"/>
          </a:xfrm>
          <a:prstGeom prst="ellipse">
            <a:avLst/>
          </a:prstGeom>
          <a:solidFill>
            <a:srgbClr val="8A6335"/>
          </a:solidFill>
          <a:ln/>
        </p:spPr>
      </p:sp>
      <p:pic>
        <p:nvPicPr>
          <p:cNvPr id="5" name="Image 0" descr="preencoded.png">    </p:cNvPr>
          <p:cNvPicPr>
            <a:picLocks noChangeAspect="1"/>
          </p:cNvPicPr>
          <p:nvPr/>
        </p:nvPicPr>
        <p:blipFill>
          <a:blip r:embed="rId1"/>
          <a:stretch>
            <a:fillRect/>
          </a:stretch>
        </p:blipFill>
        <p:spPr>
          <a:xfrm>
            <a:off x="976031" y="2119031"/>
            <a:ext cx="260787" cy="260787"/>
          </a:xfrm>
          <a:prstGeom prst="rect">
            <a:avLst/>
          </a:prstGeom>
        </p:spPr>
      </p:pic>
      <p:sp>
        <p:nvSpPr>
          <p:cNvPr id="6" name="Text 3"/>
          <p:cNvSpPr/>
          <p:nvPr/>
        </p:nvSpPr>
        <p:spPr>
          <a:xfrm>
            <a:off x="1600200" y="1892808"/>
            <a:ext cx="4343400" cy="1371600"/>
          </a:xfrm>
          <a:prstGeom prst="rect">
            <a:avLst/>
          </a:prstGeom>
          <a:noFill/>
          <a:ln/>
        </p:spPr>
        <p:txBody>
          <a:bodyPr wrap="square" lIns="0" tIns="0" rIns="0" bIns="0" rtlCol="0" anchor="ctr"/>
          <a:lstStyle/>
          <a:p>
            <a:pPr indent="0" marL="0">
              <a:lnSpc>
                <a:spcPts val="1600"/>
              </a:lnSpc>
              <a:spcAft>
                <a:spcPts val="400"/>
              </a:spcAft>
              <a:buNone/>
            </a:pPr>
            <a:r>
              <a:rPr lang="en-US" sz="1450" b="1" dirty="0">
                <a:solidFill>
                  <a:srgbClr val="26221E"/>
                </a:solidFill>
                <a:latin typeface="Calibri" pitchFamily="34" charset="0"/>
                <a:ea typeface="Calibri" pitchFamily="34" charset="-122"/>
                <a:cs typeface="Calibri" pitchFamily="34" charset="-120"/>
              </a:rPr>
              <a:t>Duda API access</a:t>
            </a:r>
            <a:endParaRPr lang="en-US" sz="1450" dirty="0"/>
          </a:p>
          <a:p>
            <a:pPr indent="0" marL="0">
              <a:lnSpc>
                <a:spcPts val="1600"/>
              </a:lnSpc>
              <a:spcAft>
                <a:spcPts val="400"/>
              </a:spcAft>
              <a:buNone/>
            </a:pPr>
            <a:r>
              <a:rPr lang="en-US" sz="1250" dirty="0">
                <a:solidFill>
                  <a:srgbClr val="6E675E"/>
                </a:solidFill>
                <a:latin typeface="Calibri" pitchFamily="34" charset="0"/>
                <a:ea typeface="Calibri" pitchFamily="34" charset="-122"/>
                <a:cs typeface="Calibri" pitchFamily="34" charset="-120"/>
              </a:rPr>
              <a:t>Credentials from the account owner (Bullsai). The one hard dependency; everything else branches off this answer on day one.</a:t>
            </a:r>
            <a:endParaRPr lang="en-US" sz="1450" dirty="0"/>
          </a:p>
        </p:txBody>
      </p:sp>
      <p:sp>
        <p:nvSpPr>
          <p:cNvPr id="7" name="Shape 4"/>
          <p:cNvSpPr/>
          <p:nvPr/>
        </p:nvSpPr>
        <p:spPr>
          <a:xfrm>
            <a:off x="822960" y="3383280"/>
            <a:ext cx="566928" cy="566928"/>
          </a:xfrm>
          <a:prstGeom prst="ellipse">
            <a:avLst/>
          </a:prstGeom>
          <a:solidFill>
            <a:srgbClr val="8A6335"/>
          </a:solidFill>
          <a:ln/>
        </p:spPr>
      </p:sp>
      <p:pic>
        <p:nvPicPr>
          <p:cNvPr id="8" name="Image 1" descr="preencoded.png">    </p:cNvPr>
          <p:cNvPicPr>
            <a:picLocks noChangeAspect="1"/>
          </p:cNvPicPr>
          <p:nvPr/>
        </p:nvPicPr>
        <p:blipFill>
          <a:blip r:embed="rId2"/>
          <a:stretch>
            <a:fillRect/>
          </a:stretch>
        </p:blipFill>
        <p:spPr>
          <a:xfrm>
            <a:off x="976031" y="3536351"/>
            <a:ext cx="260787" cy="260787"/>
          </a:xfrm>
          <a:prstGeom prst="rect">
            <a:avLst/>
          </a:prstGeom>
        </p:spPr>
      </p:pic>
      <p:sp>
        <p:nvSpPr>
          <p:cNvPr id="9" name="Text 5"/>
          <p:cNvSpPr/>
          <p:nvPr/>
        </p:nvSpPr>
        <p:spPr>
          <a:xfrm>
            <a:off x="1600200" y="3310128"/>
            <a:ext cx="4343400" cy="1371600"/>
          </a:xfrm>
          <a:prstGeom prst="rect">
            <a:avLst/>
          </a:prstGeom>
          <a:noFill/>
          <a:ln/>
        </p:spPr>
        <p:txBody>
          <a:bodyPr wrap="square" lIns="0" tIns="0" rIns="0" bIns="0" rtlCol="0" anchor="ctr"/>
          <a:lstStyle/>
          <a:p>
            <a:pPr indent="0" marL="0">
              <a:lnSpc>
                <a:spcPts val="1600"/>
              </a:lnSpc>
              <a:spcAft>
                <a:spcPts val="400"/>
              </a:spcAft>
              <a:buNone/>
            </a:pPr>
            <a:r>
              <a:rPr lang="en-US" sz="1450" b="1" dirty="0">
                <a:solidFill>
                  <a:srgbClr val="26221E"/>
                </a:solidFill>
                <a:latin typeface="Calibri" pitchFamily="34" charset="0"/>
                <a:ea typeface="Calibri" pitchFamily="34" charset="-122"/>
                <a:cs typeface="Calibri" pitchFamily="34" charset="-120"/>
              </a:rPr>
              <a:t>Thirty minutes of verification</a:t>
            </a:r>
            <a:endParaRPr lang="en-US" sz="1450" dirty="0"/>
          </a:p>
          <a:p>
            <a:pPr indent="0" marL="0">
              <a:lnSpc>
                <a:spcPts val="1600"/>
              </a:lnSpc>
              <a:spcAft>
                <a:spcPts val="400"/>
              </a:spcAft>
              <a:buNone/>
            </a:pPr>
            <a:r>
              <a:rPr lang="en-US" sz="1250" dirty="0">
                <a:solidFill>
                  <a:srgbClr val="6E675E"/>
                </a:solidFill>
                <a:latin typeface="Calibri" pitchFamily="34" charset="0"/>
                <a:ea typeface="Calibri" pitchFamily="34" charset="-122"/>
                <a:cs typeface="Calibri" pitchFamily="34" charset="-120"/>
              </a:rPr>
              <a:t>Confirm the address, license facts, team roles and review sources. Nothing flagged unverified ever ships.</a:t>
            </a:r>
            <a:endParaRPr lang="en-US" sz="1450" dirty="0"/>
          </a:p>
        </p:txBody>
      </p:sp>
      <p:sp>
        <p:nvSpPr>
          <p:cNvPr id="10" name="Shape 6"/>
          <p:cNvSpPr/>
          <p:nvPr/>
        </p:nvSpPr>
        <p:spPr>
          <a:xfrm>
            <a:off x="822960" y="4800600"/>
            <a:ext cx="566928" cy="566928"/>
          </a:xfrm>
          <a:prstGeom prst="ellipse">
            <a:avLst/>
          </a:prstGeom>
          <a:solidFill>
            <a:srgbClr val="8A6335"/>
          </a:solidFill>
          <a:ln/>
        </p:spPr>
      </p:sp>
      <p:pic>
        <p:nvPicPr>
          <p:cNvPr id="11" name="Image 2" descr="preencoded.png">    </p:cNvPr>
          <p:cNvPicPr>
            <a:picLocks noChangeAspect="1"/>
          </p:cNvPicPr>
          <p:nvPr/>
        </p:nvPicPr>
        <p:blipFill>
          <a:blip r:embed="rId3"/>
          <a:stretch>
            <a:fillRect/>
          </a:stretch>
        </p:blipFill>
        <p:spPr>
          <a:xfrm>
            <a:off x="976031" y="4953671"/>
            <a:ext cx="260787" cy="260787"/>
          </a:xfrm>
          <a:prstGeom prst="rect">
            <a:avLst/>
          </a:prstGeom>
        </p:spPr>
      </p:pic>
      <p:sp>
        <p:nvSpPr>
          <p:cNvPr id="12" name="Text 7"/>
          <p:cNvSpPr/>
          <p:nvPr/>
        </p:nvSpPr>
        <p:spPr>
          <a:xfrm>
            <a:off x="1600200" y="4727448"/>
            <a:ext cx="4343400" cy="1371600"/>
          </a:xfrm>
          <a:prstGeom prst="rect">
            <a:avLst/>
          </a:prstGeom>
          <a:noFill/>
          <a:ln/>
        </p:spPr>
        <p:txBody>
          <a:bodyPr wrap="square" lIns="0" tIns="0" rIns="0" bIns="0" rtlCol="0" anchor="ctr"/>
          <a:lstStyle/>
          <a:p>
            <a:pPr indent="0" marL="0">
              <a:lnSpc>
                <a:spcPts val="1600"/>
              </a:lnSpc>
              <a:spcAft>
                <a:spcPts val="400"/>
              </a:spcAft>
              <a:buNone/>
            </a:pPr>
            <a:r>
              <a:rPr lang="en-US" sz="1450" b="1" dirty="0">
                <a:solidFill>
                  <a:srgbClr val="26221E"/>
                </a:solidFill>
                <a:latin typeface="Calibri" pitchFamily="34" charset="0"/>
                <a:ea typeface="Calibri" pitchFamily="34" charset="-122"/>
                <a:cs typeface="Calibri" pitchFamily="34" charset="-120"/>
              </a:rPr>
              <a:t>Approval on brand claims</a:t>
            </a:r>
            <a:endParaRPr lang="en-US" sz="1450" dirty="0"/>
          </a:p>
          <a:p>
            <a:pPr indent="0" marL="0">
              <a:lnSpc>
                <a:spcPts val="1600"/>
              </a:lnSpc>
              <a:spcAft>
                <a:spcPts val="400"/>
              </a:spcAft>
              <a:buNone/>
            </a:pPr>
            <a:r>
              <a:rPr lang="en-US" sz="1250" dirty="0">
                <a:solidFill>
                  <a:srgbClr val="6E675E"/>
                </a:solidFill>
                <a:latin typeface="Calibri" pitchFamily="34" charset="0"/>
                <a:ea typeface="Calibri" pitchFamily="34" charset="-122"/>
                <a:cs typeface="Calibri" pitchFamily="34" charset="-120"/>
              </a:rPr>
              <a:t>You sign off on project facts and anything customer facing before it is pushed. The pipeline enforces this.</a:t>
            </a:r>
            <a:endParaRPr lang="en-US" sz="1450" dirty="0"/>
          </a:p>
        </p:txBody>
      </p:sp>
      <p:sp>
        <p:nvSpPr>
          <p:cNvPr id="13" name="Text 8"/>
          <p:cNvSpPr/>
          <p:nvPr/>
        </p:nvSpPr>
        <p:spPr>
          <a:xfrm>
            <a:off x="6309360" y="1371600"/>
            <a:ext cx="5120640" cy="411480"/>
          </a:xfrm>
          <a:prstGeom prst="rect">
            <a:avLst/>
          </a:prstGeom>
          <a:noFill/>
          <a:ln/>
        </p:spPr>
        <p:txBody>
          <a:bodyPr wrap="square" lIns="0" tIns="0" rIns="0" bIns="0" rtlCol="0" anchor="ctr"/>
          <a:lstStyle/>
          <a:p>
            <a:pPr indent="0" marL="0">
              <a:buNone/>
            </a:pPr>
            <a:r>
              <a:rPr lang="en-US" sz="2000" b="1" dirty="0">
                <a:solidFill>
                  <a:srgbClr val="8A6335"/>
                </a:solidFill>
                <a:latin typeface="Cambria" pitchFamily="34" charset="0"/>
                <a:ea typeface="Cambria" pitchFamily="34" charset="-122"/>
                <a:cs typeface="Cambria" pitchFamily="34" charset="-120"/>
              </a:rPr>
              <a:t>Back to you, every month</a:t>
            </a:r>
            <a:endParaRPr lang="en-US" sz="2000" dirty="0"/>
          </a:p>
        </p:txBody>
      </p:sp>
      <p:sp>
        <p:nvSpPr>
          <p:cNvPr id="14" name="Shape 9"/>
          <p:cNvSpPr/>
          <p:nvPr/>
        </p:nvSpPr>
        <p:spPr>
          <a:xfrm>
            <a:off x="6309360" y="1965960"/>
            <a:ext cx="566928" cy="566928"/>
          </a:xfrm>
          <a:prstGeom prst="ellipse">
            <a:avLst/>
          </a:prstGeom>
          <a:solidFill>
            <a:srgbClr val="8A6335"/>
          </a:solidFill>
          <a:ln/>
        </p:spPr>
      </p:sp>
      <p:pic>
        <p:nvPicPr>
          <p:cNvPr id="15" name="Image 3" descr="preencoded.png">    </p:cNvPr>
          <p:cNvPicPr>
            <a:picLocks noChangeAspect="1"/>
          </p:cNvPicPr>
          <p:nvPr/>
        </p:nvPicPr>
        <p:blipFill>
          <a:blip r:embed="rId4"/>
          <a:stretch>
            <a:fillRect/>
          </a:stretch>
        </p:blipFill>
        <p:spPr>
          <a:xfrm>
            <a:off x="6462431" y="2119031"/>
            <a:ext cx="260787" cy="260787"/>
          </a:xfrm>
          <a:prstGeom prst="rect">
            <a:avLst/>
          </a:prstGeom>
        </p:spPr>
      </p:pic>
      <p:sp>
        <p:nvSpPr>
          <p:cNvPr id="16" name="Text 10"/>
          <p:cNvSpPr/>
          <p:nvPr/>
        </p:nvSpPr>
        <p:spPr>
          <a:xfrm>
            <a:off x="7086600" y="1892808"/>
            <a:ext cx="4343400" cy="1371600"/>
          </a:xfrm>
          <a:prstGeom prst="rect">
            <a:avLst/>
          </a:prstGeom>
          <a:noFill/>
          <a:ln/>
        </p:spPr>
        <p:txBody>
          <a:bodyPr wrap="square" lIns="0" tIns="0" rIns="0" bIns="0" rtlCol="0" anchor="ctr"/>
          <a:lstStyle/>
          <a:p>
            <a:pPr indent="0" marL="0">
              <a:lnSpc>
                <a:spcPts val="1600"/>
              </a:lnSpc>
              <a:spcAft>
                <a:spcPts val="400"/>
              </a:spcAft>
              <a:buNone/>
            </a:pPr>
            <a:r>
              <a:rPr lang="en-US" sz="1450" b="1" dirty="0">
                <a:solidFill>
                  <a:srgbClr val="26221E"/>
                </a:solidFill>
                <a:latin typeface="Calibri" pitchFamily="34" charset="0"/>
                <a:ea typeface="Calibri" pitchFamily="34" charset="-122"/>
                <a:cs typeface="Calibri" pitchFamily="34" charset="-120"/>
              </a:rPr>
              <a:t>A monthly report that reads like a P&amp;L</a:t>
            </a:r>
            <a:endParaRPr lang="en-US" sz="1450" dirty="0"/>
          </a:p>
          <a:p>
            <a:pPr indent="0" marL="0">
              <a:lnSpc>
                <a:spcPts val="1600"/>
              </a:lnSpc>
              <a:spcAft>
                <a:spcPts val="400"/>
              </a:spcAft>
              <a:buNone/>
            </a:pPr>
            <a:r>
              <a:rPr lang="en-US" sz="1250" dirty="0">
                <a:solidFill>
                  <a:srgbClr val="6E675E"/>
                </a:solidFill>
                <a:latin typeface="Calibri" pitchFamily="34" charset="0"/>
                <a:ea typeface="Calibri" pitchFamily="34" charset="-122"/>
                <a:cs typeface="Calibri" pitchFamily="34" charset="-120"/>
              </a:rPr>
              <a:t>What changed, what was learned, visibility by customer intent, and qualified consultations with budget context.</a:t>
            </a:r>
            <a:endParaRPr lang="en-US" sz="1450" dirty="0"/>
          </a:p>
        </p:txBody>
      </p:sp>
      <p:sp>
        <p:nvSpPr>
          <p:cNvPr id="17" name="Shape 11"/>
          <p:cNvSpPr/>
          <p:nvPr/>
        </p:nvSpPr>
        <p:spPr>
          <a:xfrm>
            <a:off x="6309360" y="3383280"/>
            <a:ext cx="566928" cy="566928"/>
          </a:xfrm>
          <a:prstGeom prst="ellipse">
            <a:avLst/>
          </a:prstGeom>
          <a:solidFill>
            <a:srgbClr val="8A6335"/>
          </a:solidFill>
          <a:ln/>
        </p:spPr>
      </p:sp>
      <p:pic>
        <p:nvPicPr>
          <p:cNvPr id="18" name="Image 4" descr="preencoded.png">    </p:cNvPr>
          <p:cNvPicPr>
            <a:picLocks noChangeAspect="1"/>
          </p:cNvPicPr>
          <p:nvPr/>
        </p:nvPicPr>
        <p:blipFill>
          <a:blip r:embed="rId5"/>
          <a:stretch>
            <a:fillRect/>
          </a:stretch>
        </p:blipFill>
        <p:spPr>
          <a:xfrm>
            <a:off x="6462431" y="3536351"/>
            <a:ext cx="260787" cy="260787"/>
          </a:xfrm>
          <a:prstGeom prst="rect">
            <a:avLst/>
          </a:prstGeom>
        </p:spPr>
      </p:pic>
      <p:sp>
        <p:nvSpPr>
          <p:cNvPr id="19" name="Text 12"/>
          <p:cNvSpPr/>
          <p:nvPr/>
        </p:nvSpPr>
        <p:spPr>
          <a:xfrm>
            <a:off x="7086600" y="3310128"/>
            <a:ext cx="4343400" cy="1371600"/>
          </a:xfrm>
          <a:prstGeom prst="rect">
            <a:avLst/>
          </a:prstGeom>
          <a:noFill/>
          <a:ln/>
        </p:spPr>
        <p:txBody>
          <a:bodyPr wrap="square" lIns="0" tIns="0" rIns="0" bIns="0" rtlCol="0" anchor="ctr"/>
          <a:lstStyle/>
          <a:p>
            <a:pPr indent="0" marL="0">
              <a:lnSpc>
                <a:spcPts val="1600"/>
              </a:lnSpc>
              <a:spcAft>
                <a:spcPts val="400"/>
              </a:spcAft>
              <a:buNone/>
            </a:pPr>
            <a:r>
              <a:rPr lang="en-US" sz="1450" b="1" dirty="0">
                <a:solidFill>
                  <a:srgbClr val="26221E"/>
                </a:solidFill>
                <a:latin typeface="Calibri" pitchFamily="34" charset="0"/>
                <a:ea typeface="Calibri" pitchFamily="34" charset="-122"/>
                <a:cs typeface="Calibri" pitchFamily="34" charset="-120"/>
              </a:rPr>
              <a:t>Every change reviewable and reversible</a:t>
            </a:r>
            <a:endParaRPr lang="en-US" sz="1450" dirty="0"/>
          </a:p>
          <a:p>
            <a:pPr indent="0" marL="0">
              <a:lnSpc>
                <a:spcPts val="1600"/>
              </a:lnSpc>
              <a:spcAft>
                <a:spcPts val="400"/>
              </a:spcAft>
              <a:buNone/>
            </a:pPr>
            <a:r>
              <a:rPr lang="en-US" sz="1250" dirty="0">
                <a:solidFill>
                  <a:srgbClr val="6E675E"/>
                </a:solidFill>
                <a:latin typeface="Calibri" pitchFamily="34" charset="0"/>
                <a:ea typeface="Calibri" pitchFamily="34" charset="-122"/>
                <a:cs typeface="Calibri" pitchFamily="34" charset="-120"/>
              </a:rPr>
              <a:t>Diffs before publishing, history after, one command rollback. Your site stops being editable in the dark.</a:t>
            </a:r>
            <a:endParaRPr lang="en-US" sz="1450" dirty="0"/>
          </a:p>
        </p:txBody>
      </p:sp>
      <p:sp>
        <p:nvSpPr>
          <p:cNvPr id="20" name="Shape 13"/>
          <p:cNvSpPr/>
          <p:nvPr/>
        </p:nvSpPr>
        <p:spPr>
          <a:xfrm>
            <a:off x="6309360" y="4800600"/>
            <a:ext cx="566928" cy="566928"/>
          </a:xfrm>
          <a:prstGeom prst="ellipse">
            <a:avLst/>
          </a:prstGeom>
          <a:solidFill>
            <a:srgbClr val="8A6335"/>
          </a:solidFill>
          <a:ln/>
        </p:spPr>
      </p:sp>
      <p:pic>
        <p:nvPicPr>
          <p:cNvPr id="21" name="Image 5" descr="preencoded.png">    </p:cNvPr>
          <p:cNvPicPr>
            <a:picLocks noChangeAspect="1"/>
          </p:cNvPicPr>
          <p:nvPr/>
        </p:nvPicPr>
        <p:blipFill>
          <a:blip r:embed="rId6"/>
          <a:stretch>
            <a:fillRect/>
          </a:stretch>
        </p:blipFill>
        <p:spPr>
          <a:xfrm>
            <a:off x="6462431" y="4953671"/>
            <a:ext cx="260787" cy="260787"/>
          </a:xfrm>
          <a:prstGeom prst="rect">
            <a:avLst/>
          </a:prstGeom>
        </p:spPr>
      </p:pic>
      <p:sp>
        <p:nvSpPr>
          <p:cNvPr id="22" name="Text 14"/>
          <p:cNvSpPr/>
          <p:nvPr/>
        </p:nvSpPr>
        <p:spPr>
          <a:xfrm>
            <a:off x="7086600" y="4727448"/>
            <a:ext cx="4343400" cy="1371600"/>
          </a:xfrm>
          <a:prstGeom prst="rect">
            <a:avLst/>
          </a:prstGeom>
          <a:noFill/>
          <a:ln/>
        </p:spPr>
        <p:txBody>
          <a:bodyPr wrap="square" lIns="0" tIns="0" rIns="0" bIns="0" rtlCol="0" anchor="ctr"/>
          <a:lstStyle/>
          <a:p>
            <a:pPr indent="0" marL="0">
              <a:lnSpc>
                <a:spcPts val="1600"/>
              </a:lnSpc>
              <a:spcAft>
                <a:spcPts val="400"/>
              </a:spcAft>
              <a:buNone/>
            </a:pPr>
            <a:r>
              <a:rPr lang="en-US" sz="1450" b="1" dirty="0">
                <a:solidFill>
                  <a:srgbClr val="26221E"/>
                </a:solidFill>
                <a:latin typeface="Calibri" pitchFamily="34" charset="0"/>
                <a:ea typeface="Calibri" pitchFamily="34" charset="-122"/>
                <a:cs typeface="Calibri" pitchFamily="34" charset="-120"/>
              </a:rPr>
              <a:t>Two to four qualified consultations a month</a:t>
            </a:r>
            <a:endParaRPr lang="en-US" sz="1450" dirty="0"/>
          </a:p>
          <a:p>
            <a:pPr indent="0" marL="0">
              <a:lnSpc>
                <a:spcPts val="1600"/>
              </a:lnSpc>
              <a:spcAft>
                <a:spcPts val="400"/>
              </a:spcAft>
              <a:buNone/>
            </a:pPr>
            <a:r>
              <a:rPr lang="en-US" sz="1250" dirty="0">
                <a:solidFill>
                  <a:srgbClr val="6E675E"/>
                </a:solidFill>
                <a:latin typeface="Calibri" pitchFamily="34" charset="0"/>
                <a:ea typeface="Calibri" pitchFamily="34" charset="-122"/>
                <a:cs typeface="Calibri" pitchFamily="34" charset="-120"/>
              </a:rPr>
              <a:t>The target by day 90 plus one quarter: right project type, right budget, right city.</a:t>
            </a:r>
            <a:endParaRPr lang="en-US" sz="14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2A2521"/>
        </a:solidFill>
      </p:bgPr>
    </p:bg>
    <p:spTree>
      <p:nvGrpSpPr>
        <p:cNvPr id="1" name=""/>
        <p:cNvGrpSpPr/>
        <p:nvPr/>
      </p:nvGrpSpPr>
      <p:grpSpPr>
        <a:xfrm>
          <a:off x="0" y="0"/>
          <a:ext cx="0" cy="0"/>
          <a:chOff x="0" y="0"/>
          <a:chExt cx="0" cy="0"/>
        </a:xfrm>
      </p:grpSpPr>
      <p:sp>
        <p:nvSpPr>
          <p:cNvPr id="2" name="Shape 0"/>
          <p:cNvSpPr/>
          <p:nvPr/>
        </p:nvSpPr>
        <p:spPr>
          <a:xfrm>
            <a:off x="9692640" y="4663440"/>
            <a:ext cx="5486400" cy="5486400"/>
          </a:xfrm>
          <a:prstGeom prst="ellipse">
            <a:avLst/>
          </a:prstGeom>
          <a:ln w="15875">
            <a:solidFill>
              <a:srgbClr val="A97E48">
                <a:alpha val="60000"/>
              </a:srgbClr>
            </a:solidFill>
            <a:prstDash val="solid"/>
          </a:ln>
        </p:spPr>
      </p:sp>
      <p:sp>
        <p:nvSpPr>
          <p:cNvPr id="3" name="Text 1"/>
          <p:cNvSpPr/>
          <p:nvPr/>
        </p:nvSpPr>
        <p:spPr>
          <a:xfrm>
            <a:off x="822960" y="1554480"/>
            <a:ext cx="10424160" cy="1645920"/>
          </a:xfrm>
          <a:prstGeom prst="rect">
            <a:avLst/>
          </a:prstGeom>
          <a:noFill/>
          <a:ln/>
        </p:spPr>
        <p:txBody>
          <a:bodyPr wrap="square" lIns="0" tIns="0" rIns="0" bIns="0" rtlCol="0" anchor="ctr"/>
          <a:lstStyle/>
          <a:p>
            <a:pPr indent="0" marL="0">
              <a:lnSpc>
                <a:spcPts val="4200"/>
              </a:lnSpc>
              <a:buNone/>
            </a:pPr>
            <a:r>
              <a:rPr lang="en-US" sz="3400" b="1" dirty="0">
                <a:solidFill>
                  <a:srgbClr val="FFFFFF"/>
                </a:solidFill>
                <a:latin typeface="Cambria" pitchFamily="34" charset="0"/>
                <a:ea typeface="Cambria" pitchFamily="34" charset="-122"/>
                <a:cs typeface="Cambria" pitchFamily="34" charset="-120"/>
              </a:rPr>
              <a:t>The gap between the quality of this business and its search presence is the opportunity.</a:t>
            </a:r>
            <a:endParaRPr lang="en-US" sz="3400" dirty="0"/>
          </a:p>
        </p:txBody>
      </p:sp>
      <p:sp>
        <p:nvSpPr>
          <p:cNvPr id="4" name="Text 2"/>
          <p:cNvSpPr/>
          <p:nvPr/>
        </p:nvSpPr>
        <p:spPr>
          <a:xfrm>
            <a:off x="822960" y="3383280"/>
            <a:ext cx="8778240" cy="868680"/>
          </a:xfrm>
          <a:prstGeom prst="rect">
            <a:avLst/>
          </a:prstGeom>
          <a:noFill/>
          <a:ln/>
        </p:spPr>
        <p:txBody>
          <a:bodyPr wrap="square" lIns="0" tIns="0" rIns="0" bIns="0" rtlCol="0" anchor="ctr"/>
          <a:lstStyle/>
          <a:p>
            <a:pPr indent="0" marL="0">
              <a:lnSpc>
                <a:spcPts val="2200"/>
              </a:lnSpc>
              <a:buNone/>
            </a:pPr>
            <a:r>
              <a:rPr lang="en-US" sz="1600" dirty="0">
                <a:solidFill>
                  <a:srgbClr val="D8D2C8"/>
                </a:solidFill>
                <a:latin typeface="Calibri" pitchFamily="34" charset="0"/>
                <a:ea typeface="Calibri" pitchFamily="34" charset="-122"/>
                <a:cs typeface="Calibri" pitchFamily="34" charset="-120"/>
              </a:rPr>
              <a:t>The fixes are not exotic. The system to ship them is built, tested, and caught 35 real failures on its first run. Somebody needs to operate it. I already started.</a:t>
            </a:r>
            <a:endParaRPr lang="en-US" sz="1600" dirty="0"/>
          </a:p>
        </p:txBody>
      </p:sp>
      <p:sp>
        <p:nvSpPr>
          <p:cNvPr id="5" name="Text 3"/>
          <p:cNvSpPr/>
          <p:nvPr/>
        </p:nvSpPr>
        <p:spPr>
          <a:xfrm>
            <a:off x="822960" y="5120640"/>
            <a:ext cx="9601200" cy="822960"/>
          </a:xfrm>
          <a:prstGeom prst="rect">
            <a:avLst/>
          </a:prstGeom>
          <a:noFill/>
          <a:ln/>
        </p:spPr>
        <p:txBody>
          <a:bodyPr wrap="square" lIns="0" tIns="0" rIns="0" bIns="0" rtlCol="0" anchor="ctr"/>
          <a:lstStyle/>
          <a:p>
            <a:pPr indent="0" marL="0">
              <a:lnSpc>
                <a:spcPts val="2000"/>
              </a:lnSpc>
              <a:spcAft>
                <a:spcPts val="400"/>
              </a:spcAft>
              <a:buNone/>
            </a:pPr>
            <a:r>
              <a:rPr lang="en-US" sz="1400" b="1" dirty="0">
                <a:solidFill>
                  <a:srgbClr val="A97E48"/>
                </a:solidFill>
                <a:latin typeface="Calibri" pitchFamily="34" charset="0"/>
                <a:ea typeface="Calibri" pitchFamily="34" charset="-122"/>
                <a:cs typeface="Calibri" pitchFamily="34" charset="-120"/>
              </a:rPr>
              <a:t>kawani@digiwaxx.com</a:t>
            </a:r>
            <a:endParaRPr lang="en-US" sz="1400" dirty="0"/>
          </a:p>
          <a:p>
            <a:pPr indent="0" marL="0">
              <a:lnSpc>
                <a:spcPts val="2000"/>
              </a:lnSpc>
              <a:spcAft>
                <a:spcPts val="400"/>
              </a:spcAft>
              <a:buNone/>
            </a:pPr>
            <a:r>
              <a:rPr lang="en-US" sz="1400" dirty="0">
                <a:solidFill>
                  <a:srgbClr val="D8D2C8"/>
                </a:solidFill>
                <a:latin typeface="Calibri" pitchFamily="34" charset="0"/>
                <a:ea typeface="Calibri" pitchFamily="34" charset="-122"/>
                <a:cs typeface="Calibri" pitchFamily="34" charset="-120"/>
              </a:rPr>
              <a:t>Working repo, audit, failure report and 90 day plan: github.com/branderboy/wolff</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2026-08-05T01:37:30Z</dcterms:created>
  <dcterms:modified xsi:type="dcterms:W3CDTF">2026-08-05T01:37:30Z</dcterms:modified>
</cp:coreProperties>
</file>